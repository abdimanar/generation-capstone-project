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webextensions/webextension5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2" d="100"/>
          <a:sy n="82" d="100"/>
        </p:scale>
        <p:origin x="53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96B4"/>
                </a:solidFill>
                <a:latin typeface="Aptos"/>
              </a:rPr>
              <a:t>ROBLOX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14984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</a:rPr>
              <a:t>Workforce Intelligence and Organizational Performance Analysis at Roblox Africa Operations(Ghana Hub)</a:t>
            </a:r>
            <a:endParaRPr sz="28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D6E6"/>
                </a:solidFill>
                <a:latin typeface="Aptos"/>
              </a:rPr>
              <a:t>Workforce • Performance • Finance • Health &amp; Insurance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92040"/>
            <a:ext cx="3196668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FFFFFF"/>
                </a:solidFill>
                <a:latin typeface="Aptos"/>
              </a:rPr>
              <a:t>Stakeholder Presentation</a:t>
            </a:r>
            <a:r>
              <a:rPr lang="en-US" sz="1300" b="1" dirty="0">
                <a:solidFill>
                  <a:srgbClr val="FFFFFF"/>
                </a:solidFill>
                <a:latin typeface="Aptos"/>
              </a:rPr>
              <a:t> by Group 12</a:t>
            </a:r>
          </a:p>
          <a:p>
            <a:pPr algn="l"/>
            <a:r>
              <a:rPr lang="en-US" sz="1300" b="1" dirty="0">
                <a:solidFill>
                  <a:srgbClr val="FFFFFF"/>
                </a:solidFill>
                <a:latin typeface="Aptos"/>
              </a:rPr>
              <a:t>Nana Efua</a:t>
            </a:r>
          </a:p>
          <a:p>
            <a:pPr algn="l"/>
            <a:r>
              <a:rPr lang="en-US" sz="1300" b="1" dirty="0">
                <a:solidFill>
                  <a:srgbClr val="FFFFFF"/>
                </a:solidFill>
                <a:latin typeface="Aptos"/>
              </a:rPr>
              <a:t>Gifty</a:t>
            </a:r>
          </a:p>
          <a:p>
            <a:pPr algn="l"/>
            <a:r>
              <a:rPr lang="en-US" sz="1300" b="1" dirty="0" err="1">
                <a:solidFill>
                  <a:srgbClr val="FFFFFF"/>
                </a:solidFill>
                <a:latin typeface="Aptos"/>
              </a:rPr>
              <a:t>Abdimanar</a:t>
            </a:r>
            <a:endParaRPr lang="en-US" sz="13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3378B-15C4-FE75-C213-FDA79CC0EF2B}"/>
              </a:ext>
            </a:extLst>
          </p:cNvPr>
          <p:cNvSpPr txBox="1"/>
          <p:nvPr/>
        </p:nvSpPr>
        <p:spPr>
          <a:xfrm>
            <a:off x="731520" y="6033254"/>
            <a:ext cx="3822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Date : 9</a:t>
            </a:r>
            <a:r>
              <a:rPr lang="en-US" baseline="30000" dirty="0">
                <a:solidFill>
                  <a:schemeClr val="bg1"/>
                </a:solidFill>
              </a:rPr>
              <a:t>th</a:t>
            </a:r>
            <a:r>
              <a:rPr lang="en-US" dirty="0">
                <a:solidFill>
                  <a:schemeClr val="bg1"/>
                </a:solidFill>
              </a:rPr>
              <a:t> August,2026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5B97"/>
                </a:solidFill>
                <a:latin typeface="Aptos"/>
              </a:rPr>
              <a:t>01 •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E36"/>
                </a:solidFill>
                <a:latin typeface="Aptos"/>
              </a:rPr>
              <a:t>Business problem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E6C7E"/>
                </a:solidFill>
                <a:latin typeface="Aptos"/>
              </a:rPr>
              <a:t>Why this analysis matters to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E6C7E"/>
                </a:solidFill>
                <a:latin typeface="Aptos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572768"/>
            <a:ext cx="11000232" cy="9144"/>
          </a:xfrm>
          <a:prstGeom prst="rect">
            <a:avLst/>
          </a:prstGeom>
          <a:solidFill>
            <a:srgbClr val="DE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37960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6C7E"/>
                </a:solidFill>
                <a:latin typeface="Aptos"/>
              </a:rPr>
              <a:t>ROBLOX AFRICA  •  MANAGEMENT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537960"/>
            <a:ext cx="31546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800" dirty="0">
                <a:solidFill>
                  <a:srgbClr val="5E6C7E"/>
                </a:solidFill>
                <a:latin typeface="Aptos"/>
              </a:rPr>
              <a:t>Stakeholder </a:t>
            </a:r>
            <a:r>
              <a:rPr sz="800" b="0" dirty="0">
                <a:solidFill>
                  <a:srgbClr val="5E6C7E"/>
                </a:solidFill>
                <a:latin typeface="Aptos"/>
              </a:rPr>
              <a:t>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3749039" cy="4251960"/>
          </a:xfrm>
          <a:prstGeom prst="roundRect">
            <a:avLst/>
          </a:prstGeom>
          <a:solidFill>
            <a:srgbClr val="0F1E36"/>
          </a:solidFill>
          <a:ln w="1270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96B4"/>
                </a:solidFill>
                <a:latin typeface="Aptos"/>
              </a:rPr>
              <a:t>BUSINESS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51760"/>
            <a:ext cx="30632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Management needs one integrated view of people, performance, financial outcomes and workforce risk.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00323"/>
            <a:ext cx="29718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D2DEEB"/>
                </a:solidFill>
                <a:latin typeface="Aptos"/>
              </a:rPr>
              <a:t>Without a connected view, it is harder to identify where performance gaps, </a:t>
            </a:r>
            <a:r>
              <a:rPr lang="en-US" sz="1200" b="0" dirty="0">
                <a:solidFill>
                  <a:srgbClr val="D2DEEB"/>
                </a:solidFill>
                <a:latin typeface="Aptos"/>
              </a:rPr>
              <a:t>productivity </a:t>
            </a:r>
            <a:r>
              <a:rPr sz="1200" b="0" dirty="0">
                <a:solidFill>
                  <a:srgbClr val="D2DEEB"/>
                </a:solidFill>
                <a:latin typeface="Aptos"/>
              </a:rPr>
              <a:t>and employee risks require intervention.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96596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5B97"/>
                </a:solidFill>
                <a:latin typeface="Aptos"/>
              </a:rPr>
              <a:t>ANALYTICAL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423160"/>
            <a:ext cx="6492240" cy="2182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02A37"/>
                </a:solidFill>
                <a:latin typeface="Aptos"/>
              </a:defRPr>
            </a:pPr>
            <a:r>
              <a:rPr dirty="0"/>
              <a:t>•  Understand workforce composition and compensation patterns.</a:t>
            </a:r>
          </a:p>
          <a:p>
            <a:pPr>
              <a:spcAft>
                <a:spcPts val="1100"/>
              </a:spcAft>
              <a:defRPr sz="1500">
                <a:solidFill>
                  <a:srgbClr val="202A37"/>
                </a:solidFill>
                <a:latin typeface="Aptos"/>
              </a:defRPr>
            </a:pPr>
            <a:r>
              <a:rPr dirty="0"/>
              <a:t>•  Evaluate employee and departmental performance.</a:t>
            </a:r>
          </a:p>
          <a:p>
            <a:pPr>
              <a:spcAft>
                <a:spcPts val="1100"/>
              </a:spcAft>
              <a:defRPr sz="1500">
                <a:solidFill>
                  <a:srgbClr val="202A37"/>
                </a:solidFill>
                <a:latin typeface="Aptos"/>
              </a:defRPr>
            </a:pPr>
            <a:r>
              <a:rPr dirty="0"/>
              <a:t>•  Assess how training and attendance relate to performance.</a:t>
            </a:r>
          </a:p>
          <a:p>
            <a:pPr>
              <a:spcAft>
                <a:spcPts val="1100"/>
              </a:spcAft>
              <a:defRPr sz="1500">
                <a:solidFill>
                  <a:srgbClr val="202A37"/>
                </a:solidFill>
                <a:latin typeface="Aptos"/>
              </a:defRPr>
            </a:pPr>
            <a:r>
              <a:rPr dirty="0"/>
              <a:t>•  Compare revenue, cost, profit and departmental efficiency.</a:t>
            </a:r>
          </a:p>
          <a:p>
            <a:pPr>
              <a:spcAft>
                <a:spcPts val="1100"/>
              </a:spcAft>
              <a:defRPr sz="1500">
                <a:solidFill>
                  <a:srgbClr val="202A37"/>
                </a:solidFill>
                <a:latin typeface="Aptos"/>
              </a:defRPr>
            </a:pPr>
            <a:r>
              <a:rPr dirty="0"/>
              <a:t>•  Identify insurance risks requiring action.</a:t>
            </a:r>
          </a:p>
          <a:p>
            <a:pPr>
              <a:spcAft>
                <a:spcPts val="1100"/>
              </a:spcAft>
              <a:defRPr sz="1500">
                <a:solidFill>
                  <a:srgbClr val="202A37"/>
                </a:solidFill>
                <a:latin typeface="Aptos"/>
              </a:defRPr>
            </a:pPr>
            <a:r>
              <a:rPr dirty="0"/>
              <a:t>•  Translate findings into prioritized management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5B97"/>
                </a:solidFill>
                <a:latin typeface="Aptos"/>
              </a:rPr>
              <a:t>02 •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69848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500" b="1" dirty="0">
                <a:solidFill>
                  <a:srgbClr val="0F1E36"/>
                </a:solidFill>
                <a:latin typeface="Aptos"/>
              </a:rPr>
              <a:t>Data </a:t>
            </a:r>
            <a:r>
              <a:rPr sz="2500" b="1" dirty="0">
                <a:solidFill>
                  <a:srgbClr val="0F1E36"/>
                </a:solidFill>
                <a:latin typeface="Aptos"/>
              </a:rPr>
              <a:t>&amp; </a:t>
            </a:r>
            <a:r>
              <a:rPr lang="en-US" sz="2500" b="1" dirty="0">
                <a:solidFill>
                  <a:srgbClr val="0F1E36"/>
                </a:solidFill>
                <a:latin typeface="Aptos"/>
              </a:rPr>
              <a:t>Methodology </a:t>
            </a:r>
            <a:endParaRPr sz="2500" b="1" dirty="0">
              <a:solidFill>
                <a:srgbClr val="0F1E36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E6C7E"/>
                </a:solidFill>
                <a:latin typeface="Aptos"/>
              </a:rPr>
              <a:t>A concise, auditable path from source data to management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E6C7E"/>
                </a:solidFill>
                <a:latin typeface="Aptos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572768"/>
            <a:ext cx="11000232" cy="9144"/>
          </a:xfrm>
          <a:prstGeom prst="rect">
            <a:avLst/>
          </a:prstGeom>
          <a:solidFill>
            <a:srgbClr val="DE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37960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6C7E"/>
                </a:solidFill>
                <a:latin typeface="Aptos"/>
              </a:rPr>
              <a:t>ROBLOX AFRICA  •  MANAGEMENT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537960"/>
            <a:ext cx="31546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800" dirty="0">
                <a:solidFill>
                  <a:srgbClr val="5E6C7E"/>
                </a:solidFill>
                <a:latin typeface="Aptos"/>
              </a:rPr>
              <a:t>S</a:t>
            </a:r>
            <a:r>
              <a:rPr sz="800" b="0" dirty="0">
                <a:solidFill>
                  <a:srgbClr val="5E6C7E"/>
                </a:solidFill>
                <a:latin typeface="Aptos"/>
              </a:rPr>
              <a:t>takeholder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20240"/>
            <a:ext cx="105613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24128" y="2039112"/>
            <a:ext cx="365760" cy="365760"/>
          </a:xfrm>
          <a:prstGeom prst="ellipse">
            <a:avLst/>
          </a:prstGeom>
          <a:solidFill>
            <a:srgbClr val="26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121408"/>
            <a:ext cx="3657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039112"/>
            <a:ext cx="1828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0F1E36"/>
                </a:solidFill>
                <a:latin typeface="Aptos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080260"/>
            <a:ext cx="7498079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dirty="0">
                <a:solidFill>
                  <a:srgbClr val="5E6C7E"/>
                </a:solidFill>
                <a:latin typeface="Aptos"/>
              </a:rPr>
              <a:t>Employee • Department • Education • </a:t>
            </a:r>
            <a:r>
              <a:rPr lang="en-US" sz="1100" b="0" dirty="0">
                <a:solidFill>
                  <a:srgbClr val="5E6C7E"/>
                </a:solidFill>
                <a:latin typeface="Aptos"/>
              </a:rPr>
              <a:t>Employee </a:t>
            </a:r>
            <a:r>
              <a:rPr sz="1100" b="0" dirty="0">
                <a:solidFill>
                  <a:srgbClr val="5E6C7E"/>
                </a:solidFill>
                <a:latin typeface="Aptos"/>
              </a:rPr>
              <a:t>Performance • Finance • Health</a:t>
            </a:r>
            <a:r>
              <a:rPr lang="en-US" sz="1100" dirty="0">
                <a:solidFill>
                  <a:srgbClr val="5E6C7E"/>
                </a:solidFill>
                <a:latin typeface="Aptos"/>
              </a:rPr>
              <a:t> • Department Performance datasets</a:t>
            </a:r>
            <a:endParaRPr sz="1100" b="0" dirty="0">
              <a:solidFill>
                <a:srgbClr val="5E6C7E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3816" y="2724912"/>
            <a:ext cx="105613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24128" y="2843784"/>
            <a:ext cx="365760" cy="365760"/>
          </a:xfrm>
          <a:prstGeom prst="ellipse">
            <a:avLst/>
          </a:prstGeom>
          <a:solidFill>
            <a:srgbClr val="26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2926080"/>
            <a:ext cx="3657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529584"/>
            <a:ext cx="105613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3383279" y="3712464"/>
            <a:ext cx="7498079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E6C7E"/>
                </a:solidFill>
                <a:latin typeface="Aptos"/>
              </a:rPr>
              <a:t>MySQL tables, </a:t>
            </a:r>
            <a:r>
              <a:rPr lang="en-US" sz="1100" b="0" dirty="0">
                <a:solidFill>
                  <a:srgbClr val="5E6C7E"/>
                </a:solidFill>
                <a:latin typeface="Aptos"/>
              </a:rPr>
              <a:t>R</a:t>
            </a:r>
            <a:r>
              <a:rPr sz="1100" b="0" dirty="0">
                <a:solidFill>
                  <a:srgbClr val="5E6C7E"/>
                </a:solidFill>
                <a:latin typeface="Aptos"/>
              </a:rPr>
              <a:t>elationships and </a:t>
            </a:r>
            <a:r>
              <a:rPr lang="en-US" sz="1100" b="0" dirty="0">
                <a:solidFill>
                  <a:srgbClr val="5E6C7E"/>
                </a:solidFill>
                <a:latin typeface="Aptos"/>
              </a:rPr>
              <a:t>A</a:t>
            </a:r>
            <a:r>
              <a:rPr sz="1100" b="0" dirty="0">
                <a:solidFill>
                  <a:srgbClr val="5E6C7E"/>
                </a:solidFill>
                <a:latin typeface="Aptos"/>
              </a:rPr>
              <a:t>nalytical views</a:t>
            </a:r>
          </a:p>
        </p:txBody>
      </p:sp>
      <p:sp>
        <p:nvSpPr>
          <p:cNvPr id="21" name="Oval 20"/>
          <p:cNvSpPr/>
          <p:nvPr/>
        </p:nvSpPr>
        <p:spPr>
          <a:xfrm>
            <a:off x="1024128" y="3648456"/>
            <a:ext cx="365760" cy="365760"/>
          </a:xfrm>
          <a:prstGeom prst="ellipse">
            <a:avLst/>
          </a:prstGeom>
          <a:solidFill>
            <a:srgbClr val="26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4128" y="3730752"/>
            <a:ext cx="3657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8035" y="289864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0F1E36"/>
                </a:solidFill>
                <a:latin typeface="Aptos"/>
              </a:rPr>
              <a:t>PREPARATION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884932"/>
            <a:ext cx="7498079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E6C7E"/>
                </a:solidFill>
                <a:latin typeface="Aptos"/>
              </a:rPr>
              <a:t>Data </a:t>
            </a:r>
            <a:r>
              <a:rPr lang="en-US" sz="1100" dirty="0">
                <a:solidFill>
                  <a:srgbClr val="5E6C7E"/>
                </a:solidFill>
                <a:latin typeface="Aptos"/>
              </a:rPr>
              <a:t>Cleaning</a:t>
            </a:r>
            <a:r>
              <a:rPr sz="1100" b="0" dirty="0">
                <a:solidFill>
                  <a:srgbClr val="5E6C7E"/>
                </a:solidFill>
                <a:latin typeface="Aptos"/>
              </a:rPr>
              <a:t> •</a:t>
            </a:r>
            <a:r>
              <a:rPr lang="en-US" sz="1100" b="0" dirty="0">
                <a:solidFill>
                  <a:srgbClr val="5E6C7E"/>
                </a:solidFill>
                <a:latin typeface="Aptos"/>
              </a:rPr>
              <a:t> Data Transformation</a:t>
            </a:r>
            <a:endParaRPr sz="1100" b="0" dirty="0">
              <a:solidFill>
                <a:srgbClr val="5E6C7E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22960" y="4334256"/>
            <a:ext cx="105613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24128" y="4453128"/>
            <a:ext cx="365760" cy="365760"/>
          </a:xfrm>
          <a:prstGeom prst="ellipse">
            <a:avLst/>
          </a:prstGeom>
          <a:solidFill>
            <a:srgbClr val="26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4128" y="4535424"/>
            <a:ext cx="3657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45312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E36"/>
                </a:solidFill>
                <a:latin typeface="Aptos"/>
              </a:rPr>
              <a:t>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453128"/>
            <a:ext cx="7498079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100" dirty="0">
                <a:solidFill>
                  <a:srgbClr val="5E6C7E"/>
                </a:solidFill>
                <a:latin typeface="Aptos"/>
              </a:rPr>
              <a:t>MySQL Analysis • </a:t>
            </a:r>
            <a:r>
              <a:rPr sz="1100" b="0" dirty="0">
                <a:solidFill>
                  <a:srgbClr val="5E6C7E"/>
                </a:solidFill>
                <a:latin typeface="Aptos"/>
              </a:rPr>
              <a:t>Power BI data model • DAX measures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138928"/>
            <a:ext cx="105613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24128" y="5257800"/>
            <a:ext cx="365760" cy="365760"/>
          </a:xfrm>
          <a:prstGeom prst="ellipse">
            <a:avLst/>
          </a:prstGeom>
          <a:solidFill>
            <a:srgbClr val="228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4128" y="5340096"/>
            <a:ext cx="3657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52578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E36"/>
                </a:solidFill>
                <a:latin typeface="Aptos"/>
              </a:rPr>
              <a:t>DECISION 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5257800"/>
            <a:ext cx="7498079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E6C7E"/>
                </a:solidFill>
                <a:latin typeface="Aptos"/>
              </a:rPr>
              <a:t>Interactive dashboard • </a:t>
            </a:r>
            <a:r>
              <a:rPr lang="en-US" sz="1100" b="0" dirty="0">
                <a:solidFill>
                  <a:srgbClr val="5E6C7E"/>
                </a:solidFill>
                <a:latin typeface="Aptos"/>
              </a:rPr>
              <a:t>I</a:t>
            </a:r>
            <a:r>
              <a:rPr sz="1100" b="0" dirty="0">
                <a:solidFill>
                  <a:srgbClr val="5E6C7E"/>
                </a:solidFill>
                <a:latin typeface="Aptos"/>
              </a:rPr>
              <a:t>nsights • </a:t>
            </a:r>
            <a:r>
              <a:rPr lang="en-US" sz="1100" b="0" dirty="0">
                <a:solidFill>
                  <a:srgbClr val="5E6C7E"/>
                </a:solidFill>
                <a:latin typeface="Aptos"/>
              </a:rPr>
              <a:t>R</a:t>
            </a:r>
            <a:r>
              <a:rPr sz="1100" b="0" dirty="0">
                <a:solidFill>
                  <a:srgbClr val="5E6C7E"/>
                </a:solidFill>
                <a:latin typeface="Aptos"/>
              </a:rPr>
              <a:t>ecommendations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D31381-8AE9-1F31-DD62-FB351A534686}"/>
              </a:ext>
            </a:extLst>
          </p:cNvPr>
          <p:cNvSpPr txBox="1"/>
          <p:nvPr/>
        </p:nvSpPr>
        <p:spPr>
          <a:xfrm>
            <a:off x="1600200" y="3662172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0F1E36"/>
                </a:solidFill>
                <a:latin typeface="Aptos"/>
              </a:rPr>
              <a:t>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72" y="5029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5B97"/>
                </a:solidFill>
                <a:latin typeface="Aptos"/>
              </a:rPr>
              <a:t>03 • EXECUTIVE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E6C7E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37960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6C7E"/>
                </a:solidFill>
                <a:latin typeface="Aptos"/>
              </a:rPr>
              <a:t>ROBLOX AFRICA  •  MANAGEMENT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3794" y="594361"/>
            <a:ext cx="7774366" cy="5605272"/>
          </a:xfrm>
          <a:prstGeom prst="rect">
            <a:avLst/>
          </a:prstGeom>
          <a:solidFill>
            <a:srgbClr val="FFFFFF"/>
          </a:solidFill>
          <a:ln w="12700">
            <a:noFill/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975103"/>
            <a:ext cx="726947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LIVE POWER BI — EMBED HERE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444752"/>
            <a:ext cx="3136392" cy="52578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641080" y="1468614"/>
            <a:ext cx="2679192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1F96B4"/>
                </a:solidFill>
                <a:latin typeface="Aptos"/>
              </a:rPr>
              <a:t>EXECUTIVE </a:t>
            </a:r>
            <a:r>
              <a:rPr lang="en-US" sz="1000" b="1" dirty="0">
                <a:solidFill>
                  <a:srgbClr val="1F96B4"/>
                </a:solidFill>
                <a:latin typeface="Aptos"/>
              </a:rPr>
              <a:t>OVERVIEW</a:t>
            </a:r>
            <a:endParaRPr sz="1000" b="1" dirty="0">
              <a:solidFill>
                <a:srgbClr val="1F96B4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50223" y="1786395"/>
            <a:ext cx="2679192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02A37"/>
                </a:solidFill>
                <a:latin typeface="Aptos"/>
              </a:defRPr>
            </a:pPr>
            <a:r>
              <a:rPr lang="en-US" sz="1200" dirty="0"/>
              <a:t>• Workforce headcount is broadly balanced across departments and gender.</a:t>
            </a:r>
            <a:br>
              <a:rPr lang="en-US" sz="1200" dirty="0"/>
            </a:br>
            <a:r>
              <a:rPr lang="en-US" sz="1200" dirty="0"/>
              <a:t>• Employee status requires attention, with only about one-third of employees classified as Active.</a:t>
            </a:r>
            <a:br>
              <a:rPr lang="en-US" sz="1200" dirty="0"/>
            </a:br>
            <a:r>
              <a:rPr lang="en-US" sz="1200" dirty="0"/>
              <a:t>• Workforce distribution across age groups provides an opportunity for targeted workforce and succession planning as employee distribution spreads across early-career, mid-career and more experienced employees..</a:t>
            </a:r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8650224" y="4265112"/>
            <a:ext cx="2679191" cy="9144"/>
          </a:xfrm>
          <a:prstGeom prst="rect">
            <a:avLst/>
          </a:prstGeom>
          <a:solidFill>
            <a:srgbClr val="DE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0" y="4356092"/>
            <a:ext cx="2679192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dirty="0">
                <a:solidFill>
                  <a:srgbClr val="D8A034"/>
                </a:solidFill>
                <a:latin typeface="Aptos"/>
              </a:rPr>
              <a:t>MANAGEMENT </a:t>
            </a:r>
            <a:r>
              <a:rPr lang="en-US" sz="900" b="1" dirty="0">
                <a:solidFill>
                  <a:srgbClr val="D8A034"/>
                </a:solidFill>
                <a:latin typeface="Aptos"/>
              </a:rPr>
              <a:t>ACTION</a:t>
            </a:r>
            <a:endParaRPr sz="900" b="1" dirty="0">
              <a:solidFill>
                <a:srgbClr val="D8A034"/>
              </a:solidFill>
              <a:latin typeface="Aptos"/>
            </a:endParaRP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2" name="Add-in 21">
                <a:extLst>
                  <a:ext uri="{FF2B5EF4-FFF2-40B4-BE49-F238E27FC236}">
                    <a16:creationId xmlns:a16="http://schemas.microsoft.com/office/drawing/2014/main" id="{D3CE4B43-18A5-457F-28D0-36E9A1912F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8743665"/>
                  </p:ext>
                </p:extLst>
              </p:nvPr>
            </p:nvGraphicFramePr>
            <p:xfrm>
              <a:off x="363794" y="594361"/>
              <a:ext cx="7774366" cy="555116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2" name="Add-in 21">
                <a:extLst>
                  <a:ext uri="{FF2B5EF4-FFF2-40B4-BE49-F238E27FC236}">
                    <a16:creationId xmlns:a16="http://schemas.microsoft.com/office/drawing/2014/main" id="{D3CE4B43-18A5-457F-28D0-36E9A1912FB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3794" y="594361"/>
                <a:ext cx="7774366" cy="5551168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2BCBC471-FC96-EEE6-83DB-5FE980A71A98}"/>
              </a:ext>
            </a:extLst>
          </p:cNvPr>
          <p:cNvSpPr txBox="1"/>
          <p:nvPr/>
        </p:nvSpPr>
        <p:spPr>
          <a:xfrm>
            <a:off x="8412480" y="4646119"/>
            <a:ext cx="29535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Aptos" panose="020B0004020202020204" pitchFamily="34" charset="0"/>
              </a:rPr>
              <a:t>Management should validate and investigate employee status distribution if it represent current workforce availability.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Aptos" panose="020B0004020202020204" pitchFamily="34" charset="0"/>
              </a:rPr>
              <a:t>Management should move beyond headcount and asses whether employees are positioned according to departmental workload, skill and productivity.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265B97"/>
                </a:solidFill>
                <a:latin typeface="Aptos"/>
              </a:rPr>
              <a:t>04 • </a:t>
            </a:r>
            <a:r>
              <a:rPr lang="en-US" sz="1000" b="1" dirty="0">
                <a:solidFill>
                  <a:srgbClr val="265B97"/>
                </a:solidFill>
                <a:latin typeface="Aptos"/>
              </a:rPr>
              <a:t>EDUCATION AND TALENT PLACEMENT</a:t>
            </a:r>
            <a:endParaRPr sz="1000" b="1" dirty="0">
              <a:solidFill>
                <a:srgbClr val="265B97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E6C7E"/>
                </a:solidFill>
                <a:latin typeface="Apto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37960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6C7E"/>
                </a:solidFill>
                <a:latin typeface="Aptos"/>
              </a:rPr>
              <a:t>ROBLOX AFRICA  •  MANAGEMENT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537960"/>
            <a:ext cx="31546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800" dirty="0">
                <a:solidFill>
                  <a:srgbClr val="5E6C7E"/>
                </a:solidFill>
                <a:latin typeface="Aptos"/>
              </a:rPr>
              <a:t>S</a:t>
            </a:r>
            <a:r>
              <a:rPr sz="800" b="0" dirty="0">
                <a:solidFill>
                  <a:srgbClr val="5E6C7E"/>
                </a:solidFill>
                <a:latin typeface="Aptos"/>
              </a:rPr>
              <a:t>takeholder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991" y="640080"/>
            <a:ext cx="7901609" cy="5486399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E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975103"/>
            <a:ext cx="726947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LIVE POWER BI — WORKFORCE &amp; EDUCATION PAGE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1874518"/>
            <a:ext cx="3136392" cy="466344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0" y="2103120"/>
            <a:ext cx="26791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5B97"/>
                </a:solidFill>
                <a:latin typeface="Aptos"/>
              </a:rPr>
              <a:t>KEY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496312"/>
            <a:ext cx="267919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ptos" panose="020B0004020202020204" pitchFamily="34" charset="0"/>
              </a:rPr>
              <a:t>Performance varies minimally across education levels.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ptos" panose="020B0004020202020204" pitchFamily="34" charset="0"/>
              </a:rPr>
              <a:t>Higher qualifications do not correspond to substantially higher compensation.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ptos" panose="020B0004020202020204" pitchFamily="34" charset="0"/>
              </a:rPr>
              <a:t>Field-of-study representation varies across departments.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ptos" panose="020B0004020202020204" pitchFamily="34" charset="0"/>
              </a:rPr>
              <a:t>Employees from similar academic backgrounds are placed across multiple departments.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4617720"/>
            <a:ext cx="2679191" cy="9144"/>
          </a:xfrm>
          <a:prstGeom prst="rect">
            <a:avLst/>
          </a:prstGeom>
          <a:solidFill>
            <a:srgbClr val="DE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0" y="4818888"/>
            <a:ext cx="2679192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dirty="0">
                <a:solidFill>
                  <a:srgbClr val="D8A034"/>
                </a:solidFill>
                <a:latin typeface="Aptos"/>
              </a:rPr>
              <a:t>MANAGEMENT </a:t>
            </a:r>
            <a:r>
              <a:rPr lang="en-US" sz="900" b="1" dirty="0">
                <a:solidFill>
                  <a:srgbClr val="D8A034"/>
                </a:solidFill>
                <a:latin typeface="Aptos"/>
              </a:rPr>
              <a:t>ACTION</a:t>
            </a:r>
            <a:endParaRPr sz="900" b="1" dirty="0">
              <a:solidFill>
                <a:srgbClr val="D8A034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0" y="5120640"/>
            <a:ext cx="2679192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200" b="1" dirty="0">
                <a:latin typeface="Aptos" panose="020B0004020202020204" pitchFamily="34" charset="0"/>
              </a:rPr>
              <a:t>Strengthen talent placement by matching employees' education, skills and competencies with departmental requirements, while using targeted upskilling to address identified skill gaps.</a:t>
            </a:r>
            <a:endParaRPr sz="1200" b="1" dirty="0">
              <a:solidFill>
                <a:srgbClr val="0F1E36"/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1" name="Add-in 20">
                <a:extLst>
                  <a:ext uri="{FF2B5EF4-FFF2-40B4-BE49-F238E27FC236}">
                    <a16:creationId xmlns:a16="http://schemas.microsoft.com/office/drawing/2014/main" id="{62F1E0B6-36E1-1212-DCA2-FB9EB07A1B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7857238"/>
                  </p:ext>
                </p:extLst>
              </p:nvPr>
            </p:nvGraphicFramePr>
            <p:xfrm>
              <a:off x="327992" y="594360"/>
              <a:ext cx="7901607" cy="555116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1" name="Add-in 20">
                <a:extLst>
                  <a:ext uri="{FF2B5EF4-FFF2-40B4-BE49-F238E27FC236}">
                    <a16:creationId xmlns:a16="http://schemas.microsoft.com/office/drawing/2014/main" id="{62F1E0B6-36E1-1212-DCA2-FB9EB07A1BB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7992" y="594360"/>
                <a:ext cx="7901607" cy="555116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265B97"/>
                </a:solidFill>
                <a:latin typeface="Aptos"/>
              </a:rPr>
              <a:t>05 •</a:t>
            </a:r>
            <a:r>
              <a:rPr lang="en-US" sz="1000" b="1" dirty="0">
                <a:solidFill>
                  <a:srgbClr val="265B97"/>
                </a:solidFill>
                <a:latin typeface="Aptos"/>
              </a:rPr>
              <a:t>COMPENSATION,</a:t>
            </a:r>
            <a:r>
              <a:rPr sz="1000" b="1" dirty="0">
                <a:solidFill>
                  <a:srgbClr val="265B97"/>
                </a:solidFill>
                <a:latin typeface="Aptos"/>
              </a:rPr>
              <a:t> PERFORMANCE</a:t>
            </a:r>
            <a:r>
              <a:rPr lang="en-US" sz="1000" b="1" dirty="0">
                <a:solidFill>
                  <a:srgbClr val="265B97"/>
                </a:solidFill>
                <a:latin typeface="Aptos"/>
              </a:rPr>
              <a:t> AND PRODUCTIVITY</a:t>
            </a:r>
            <a:endParaRPr sz="1000" b="1" dirty="0">
              <a:solidFill>
                <a:srgbClr val="265B97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E6C7E"/>
                </a:solidFill>
                <a:latin typeface="Apto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37960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6C7E"/>
                </a:solidFill>
                <a:latin typeface="Aptos"/>
              </a:rPr>
              <a:t>ROBLOX AFRICA  •  MANAGEMENT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537960"/>
            <a:ext cx="31546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800" dirty="0">
                <a:solidFill>
                  <a:srgbClr val="5E6C7E"/>
                </a:solidFill>
                <a:latin typeface="Aptos"/>
              </a:rPr>
              <a:t>S</a:t>
            </a:r>
            <a:r>
              <a:rPr sz="800" b="0" dirty="0">
                <a:solidFill>
                  <a:srgbClr val="5E6C7E"/>
                </a:solidFill>
                <a:latin typeface="Aptos"/>
              </a:rPr>
              <a:t>takeholder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640080"/>
            <a:ext cx="7635240" cy="5486399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E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458200" y="1476248"/>
            <a:ext cx="3136392" cy="506171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650224" y="1639627"/>
            <a:ext cx="26791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2847D"/>
                </a:solidFill>
                <a:latin typeface="Aptos"/>
              </a:rPr>
              <a:t>KEY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0224" y="1936844"/>
            <a:ext cx="2679192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02A37"/>
                </a:solidFill>
                <a:latin typeface="Aptos"/>
              </a:defRPr>
            </a:pPr>
            <a:r>
              <a:rPr lang="en-US" sz="1200" b="1" dirty="0">
                <a:latin typeface="Aptos" panose="020B0004020202020204" pitchFamily="34" charset="0"/>
              </a:rPr>
              <a:t>• </a:t>
            </a:r>
            <a:r>
              <a:rPr lang="en-US" sz="1200" dirty="0"/>
              <a:t>Average performance is relatively consistent across departments at approximately </a:t>
            </a:r>
            <a:r>
              <a:rPr lang="en-US" sz="1200" b="1" dirty="0"/>
              <a:t>3.60</a:t>
            </a:r>
            <a:r>
              <a:rPr lang="en-US" sz="1200" dirty="0"/>
              <a:t>.</a:t>
            </a:r>
            <a:br>
              <a:rPr lang="en-US" sz="1200" dirty="0"/>
            </a:br>
            <a:r>
              <a:rPr lang="en-US" sz="1200" dirty="0"/>
              <a:t>• Average compensation also shows limited variation across departments.</a:t>
            </a:r>
            <a:br>
              <a:rPr lang="en-US" sz="1200" dirty="0"/>
            </a:br>
            <a:r>
              <a:rPr lang="en-US" sz="1200" dirty="0"/>
              <a:t>• Higher departmental compensation does </a:t>
            </a:r>
            <a:r>
              <a:rPr lang="en-US" sz="1200" b="1" dirty="0"/>
              <a:t>not show a clear corresponding increase in employee performance</a:t>
            </a:r>
            <a:r>
              <a:rPr lang="en-US" sz="1200" dirty="0"/>
              <a:t>.</a:t>
            </a:r>
            <a:br>
              <a:rPr lang="en-US" sz="1200" dirty="0"/>
            </a:br>
            <a:r>
              <a:rPr lang="en-US" sz="1200" dirty="0"/>
              <a:t>• The training-hours scatter plot shows </a:t>
            </a:r>
            <a:r>
              <a:rPr lang="en-US" sz="1200" b="1" dirty="0"/>
              <a:t>virtually no relationship between training hours and performance.</a:t>
            </a:r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8650224" y="4507284"/>
            <a:ext cx="2679191" cy="9144"/>
          </a:xfrm>
          <a:prstGeom prst="rect">
            <a:avLst/>
          </a:prstGeom>
          <a:solidFill>
            <a:srgbClr val="DE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50223" y="4690791"/>
            <a:ext cx="2679192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dirty="0">
                <a:solidFill>
                  <a:srgbClr val="D8A034"/>
                </a:solidFill>
                <a:latin typeface="Aptos"/>
              </a:rPr>
              <a:t>MANAGEMENT </a:t>
            </a:r>
            <a:r>
              <a:rPr lang="en-US" sz="900" b="1" dirty="0">
                <a:solidFill>
                  <a:srgbClr val="D8A034"/>
                </a:solidFill>
                <a:latin typeface="Aptos"/>
              </a:rPr>
              <a:t>ACTION</a:t>
            </a:r>
            <a:endParaRPr sz="900" b="1" dirty="0">
              <a:solidFill>
                <a:srgbClr val="D8A034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50223" y="4984862"/>
            <a:ext cx="2679192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200" b="1" dirty="0">
                <a:latin typeface="Aptos" panose="020B0004020202020204" pitchFamily="34" charset="0"/>
              </a:rPr>
              <a:t>Align compensation and employee development investments with measurable departmental outcomes, and shift training evaluation from hours completed to skills gained, productivity and business impact.</a:t>
            </a:r>
            <a:endParaRPr sz="1200" b="1" dirty="0">
              <a:solidFill>
                <a:srgbClr val="0F1E36"/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1" name="Add-in 20">
                <a:extLst>
                  <a:ext uri="{FF2B5EF4-FFF2-40B4-BE49-F238E27FC236}">
                    <a16:creationId xmlns:a16="http://schemas.microsoft.com/office/drawing/2014/main" id="{D7A6D39E-9403-D632-ABC3-054AC12416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8281461"/>
                  </p:ext>
                </p:extLst>
              </p:nvPr>
            </p:nvGraphicFramePr>
            <p:xfrm>
              <a:off x="594360" y="640080"/>
              <a:ext cx="7635240" cy="550544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1" name="Add-in 20">
                <a:extLst>
                  <a:ext uri="{FF2B5EF4-FFF2-40B4-BE49-F238E27FC236}">
                    <a16:creationId xmlns:a16="http://schemas.microsoft.com/office/drawing/2014/main" id="{D7A6D39E-9403-D632-ABC3-054AC124160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4360" y="640080"/>
                <a:ext cx="7635240" cy="550544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265B97"/>
                </a:solidFill>
                <a:latin typeface="Aptos"/>
              </a:rPr>
              <a:t>06 • FINAN</a:t>
            </a:r>
            <a:r>
              <a:rPr lang="en-US" sz="1000" b="1" dirty="0">
                <a:solidFill>
                  <a:srgbClr val="265B97"/>
                </a:solidFill>
                <a:latin typeface="Aptos"/>
              </a:rPr>
              <a:t>CIAL PERFORMANCE &amp; DEPARTMENT EFFICIENCY</a:t>
            </a:r>
            <a:endParaRPr sz="1000" b="1" dirty="0">
              <a:solidFill>
                <a:srgbClr val="265B97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E6C7E"/>
                </a:solidFill>
                <a:latin typeface="Apto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37960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6C7E"/>
                </a:solidFill>
                <a:latin typeface="Aptos"/>
              </a:rPr>
              <a:t>ROBLOX AFRICA  •  MANAGEMENT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537960"/>
            <a:ext cx="31546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800" dirty="0">
                <a:solidFill>
                  <a:srgbClr val="5E6C7E"/>
                </a:solidFill>
                <a:latin typeface="Aptos"/>
              </a:rPr>
              <a:t>S</a:t>
            </a:r>
            <a:r>
              <a:rPr sz="800" b="0" dirty="0">
                <a:solidFill>
                  <a:srgbClr val="5E6C7E"/>
                </a:solidFill>
                <a:latin typeface="Aptos"/>
              </a:rPr>
              <a:t>takeholder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843279"/>
            <a:ext cx="7955280" cy="4886961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E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06816" y="770926"/>
            <a:ext cx="3136392" cy="574243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650224" y="834426"/>
            <a:ext cx="26791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D8A034"/>
                </a:solidFill>
                <a:latin typeface="Aptos"/>
              </a:rPr>
              <a:t>KEY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5416" y="1167246"/>
            <a:ext cx="2679192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latin typeface="Aptos" panose="020B0004020202020204" pitchFamily="34" charset="0"/>
              </a:rPr>
              <a:t>• </a:t>
            </a:r>
            <a:r>
              <a:rPr lang="en-US" sz="1100" dirty="0">
                <a:latin typeface="Aptos" panose="020B0004020202020204" pitchFamily="34" charset="0"/>
              </a:rPr>
              <a:t>Revenue exceeds cost across departments, resulting in positive net contribution.</a:t>
            </a:r>
          </a:p>
          <a:p>
            <a:endParaRPr lang="en-US" sz="1100" dirty="0">
              <a:latin typeface="Aptos" panose="020B0004020202020204" pitchFamily="34" charset="0"/>
            </a:endParaRPr>
          </a:p>
          <a:p>
            <a:r>
              <a:rPr lang="en-US" sz="1100" dirty="0">
                <a:latin typeface="Aptos" panose="020B0004020202020204" pitchFamily="34" charset="0"/>
              </a:rPr>
              <a:t>• Finance generates the highest cumulative revenue (~20.21M), while HR records the highest net contribution (~7.82M).</a:t>
            </a:r>
          </a:p>
          <a:p>
            <a:endParaRPr lang="en-US" sz="1100" dirty="0">
              <a:latin typeface="Aptos" panose="020B0004020202020204" pitchFamily="34" charset="0"/>
            </a:endParaRPr>
          </a:p>
          <a:p>
            <a:r>
              <a:rPr lang="en-US" sz="1100" dirty="0">
                <a:latin typeface="Aptos" panose="020B0004020202020204" pitchFamily="34" charset="0"/>
              </a:rPr>
              <a:t>• Revenue-to-cost ratios vary across departments, highlighting differences in departmental cost efficiency.</a:t>
            </a:r>
          </a:p>
          <a:p>
            <a:endParaRPr lang="en-US" sz="1100" dirty="0">
              <a:latin typeface="Aptos" panose="020B0004020202020204" pitchFamily="34" charset="0"/>
            </a:endParaRPr>
          </a:p>
          <a:p>
            <a:r>
              <a:rPr lang="en-US" sz="1100" dirty="0">
                <a:latin typeface="Aptos" panose="020B0004020202020204" pitchFamily="34" charset="0"/>
              </a:rPr>
              <a:t>• Similar workforce sizes produce different financial outcomes, indicating that headcount alone does not determine departmental efficiency.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50224" y="4131730"/>
            <a:ext cx="2679191" cy="9144"/>
          </a:xfrm>
          <a:prstGeom prst="rect">
            <a:avLst/>
          </a:prstGeom>
          <a:solidFill>
            <a:srgbClr val="DE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35416" y="4225972"/>
            <a:ext cx="2679192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dirty="0">
                <a:solidFill>
                  <a:srgbClr val="D8A034"/>
                </a:solidFill>
                <a:latin typeface="Aptos"/>
              </a:rPr>
              <a:t>MANAGEMENT </a:t>
            </a:r>
            <a:r>
              <a:rPr lang="en-US" sz="900" b="1" dirty="0">
                <a:solidFill>
                  <a:srgbClr val="D8A034"/>
                </a:solidFill>
                <a:latin typeface="Aptos"/>
              </a:rPr>
              <a:t>ACTION</a:t>
            </a:r>
            <a:endParaRPr sz="900" b="1" dirty="0">
              <a:solidFill>
                <a:srgbClr val="D8A034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47151" y="4533610"/>
            <a:ext cx="2679192" cy="1785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100" b="1" dirty="0">
                <a:latin typeface="Aptos" panose="020B0004020202020204" pitchFamily="34" charset="0"/>
              </a:rPr>
              <a:t>• Prioritize cost reviews in departments with lower revenue-to-cost efficiency.</a:t>
            </a:r>
          </a:p>
          <a:p>
            <a:endParaRPr lang="en-US" sz="1100" dirty="0">
              <a:latin typeface="Aptos" panose="020B0004020202020204" pitchFamily="34" charset="0"/>
            </a:endParaRPr>
          </a:p>
          <a:p>
            <a:r>
              <a:rPr lang="en-US" sz="1100" b="1" dirty="0">
                <a:latin typeface="Aptos" panose="020B0004020202020204" pitchFamily="34" charset="0"/>
              </a:rPr>
              <a:t>• Use net contribution and revenue-to-cost ratio alongside revenue when evaluating departmental performance.</a:t>
            </a:r>
          </a:p>
          <a:p>
            <a:endParaRPr lang="en-US" sz="1100" dirty="0">
              <a:latin typeface="Aptos" panose="020B0004020202020204" pitchFamily="34" charset="0"/>
            </a:endParaRPr>
          </a:p>
          <a:p>
            <a:r>
              <a:rPr lang="en-US" sz="1100" b="1" dirty="0">
                <a:latin typeface="Aptos" panose="020B0004020202020204" pitchFamily="34" charset="0"/>
              </a:rPr>
              <a:t>• Introduce Revenue per Employee and Cost per Employee to strengthen workforce-efficiency analysis.</a:t>
            </a:r>
            <a:endParaRPr lang="en-US" sz="11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3" name="Add-in 22">
                <a:extLst>
                  <a:ext uri="{FF2B5EF4-FFF2-40B4-BE49-F238E27FC236}">
                    <a16:creationId xmlns:a16="http://schemas.microsoft.com/office/drawing/2014/main" id="{5A569A67-413C-E0B2-3CE1-A795164A98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0974927"/>
                  </p:ext>
                </p:extLst>
              </p:nvPr>
            </p:nvGraphicFramePr>
            <p:xfrm>
              <a:off x="274320" y="845819"/>
              <a:ext cx="7955280" cy="496062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3" name="Add-in 22">
                <a:extLst>
                  <a:ext uri="{FF2B5EF4-FFF2-40B4-BE49-F238E27FC236}">
                    <a16:creationId xmlns:a16="http://schemas.microsoft.com/office/drawing/2014/main" id="{5A569A67-413C-E0B2-3CE1-A795164A984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4320" y="845819"/>
                <a:ext cx="7955280" cy="4960621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265B97"/>
                </a:solidFill>
                <a:latin typeface="Aptos"/>
              </a:rPr>
              <a:t>07 •</a:t>
            </a:r>
            <a:r>
              <a:rPr lang="en-US" sz="1000" b="1" dirty="0">
                <a:solidFill>
                  <a:srgbClr val="265B97"/>
                </a:solidFill>
                <a:latin typeface="Aptos"/>
              </a:rPr>
              <a:t>HEALTH &amp;</a:t>
            </a:r>
            <a:r>
              <a:rPr sz="1000" b="1" dirty="0">
                <a:solidFill>
                  <a:srgbClr val="265B97"/>
                </a:solidFill>
                <a:latin typeface="Aptos"/>
              </a:rPr>
              <a:t> WORKFORCE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E6C7E"/>
                </a:solidFill>
                <a:latin typeface="Apto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37960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6C7E"/>
                </a:solidFill>
                <a:latin typeface="Aptos"/>
              </a:rPr>
              <a:t>ROBLOX AFRICA  •  MANAGEMENT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600" y="800102"/>
            <a:ext cx="7874000" cy="532637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E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458200" y="1874518"/>
            <a:ext cx="3136392" cy="4815781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0" y="2103120"/>
            <a:ext cx="26791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84343"/>
                </a:solidFill>
                <a:latin typeface="Aptos"/>
              </a:rPr>
              <a:t>KEY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496312"/>
            <a:ext cx="267919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Aptos" panose="020B0004020202020204" pitchFamily="34" charset="0"/>
              </a:rPr>
              <a:t>• A large share of employee insurance records are </a:t>
            </a:r>
            <a:r>
              <a:rPr lang="en-US" sz="1100" b="1" dirty="0">
                <a:latin typeface="Aptos" panose="020B0004020202020204" pitchFamily="34" charset="0"/>
              </a:rPr>
              <a:t>Pending or Expired</a:t>
            </a:r>
            <a:r>
              <a:rPr lang="en-US" sz="1100" dirty="0">
                <a:latin typeface="Aptos" panose="020B0004020202020204" pitchFamily="34" charset="0"/>
              </a:rPr>
              <a:t>, creating a workforce administration risk.</a:t>
            </a:r>
          </a:p>
          <a:p>
            <a:br>
              <a:rPr lang="en-US" sz="1100" dirty="0">
                <a:latin typeface="Aptos" panose="020B0004020202020204" pitchFamily="34" charset="0"/>
              </a:rPr>
            </a:br>
            <a:r>
              <a:rPr lang="en-US" sz="1100" dirty="0">
                <a:latin typeface="Aptos" panose="020B0004020202020204" pitchFamily="34" charset="0"/>
              </a:rPr>
              <a:t>• Insurance risk is distributed across departments rather than concentrated in only one area.</a:t>
            </a:r>
          </a:p>
          <a:p>
            <a:br>
              <a:rPr lang="en-US" sz="1100" dirty="0">
                <a:latin typeface="Aptos" panose="020B0004020202020204" pitchFamily="34" charset="0"/>
              </a:rPr>
            </a:br>
            <a:r>
              <a:rPr lang="en-US" sz="1100" dirty="0">
                <a:latin typeface="Aptos" panose="020B0004020202020204" pitchFamily="34" charset="0"/>
              </a:rPr>
              <a:t>• Medical leave data supports workforce-capacity planning, but current health data does not fully measure employee wellbeing.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4617720"/>
            <a:ext cx="2679191" cy="9144"/>
          </a:xfrm>
          <a:prstGeom prst="rect">
            <a:avLst/>
          </a:prstGeom>
          <a:solidFill>
            <a:srgbClr val="DE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0" y="4818888"/>
            <a:ext cx="2679192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dirty="0">
                <a:solidFill>
                  <a:srgbClr val="D8A034"/>
                </a:solidFill>
                <a:latin typeface="Aptos"/>
              </a:rPr>
              <a:t>MANAGEMENT </a:t>
            </a:r>
            <a:r>
              <a:rPr lang="en-US" sz="900" b="1" dirty="0">
                <a:solidFill>
                  <a:srgbClr val="D8A034"/>
                </a:solidFill>
                <a:latin typeface="Aptos"/>
              </a:rPr>
              <a:t>ACTION</a:t>
            </a:r>
            <a:endParaRPr sz="900" b="1" dirty="0">
              <a:solidFill>
                <a:srgbClr val="D8A034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0" y="5120640"/>
            <a:ext cx="2679192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200" b="1" dirty="0">
                <a:latin typeface="Aptos" panose="020B0004020202020204" pitchFamily="34" charset="0"/>
              </a:rPr>
              <a:t>Strengthen insurance administration through automated renewal monitoring, resolve pending coverage promptly, and expand workforce-risk indicators beyond insurance status to include absence, workload and employee wellbeing.</a:t>
            </a:r>
            <a:endParaRPr sz="1200" b="1" dirty="0">
              <a:solidFill>
                <a:srgbClr val="0F1E36"/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1" name="Add-in 20">
                <a:extLst>
                  <a:ext uri="{FF2B5EF4-FFF2-40B4-BE49-F238E27FC236}">
                    <a16:creationId xmlns:a16="http://schemas.microsoft.com/office/drawing/2014/main" id="{DDDFEEA8-84DD-57B8-64A0-8AF20A2ACD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8298471"/>
                  </p:ext>
                </p:extLst>
              </p:nvPr>
            </p:nvGraphicFramePr>
            <p:xfrm>
              <a:off x="355600" y="800102"/>
              <a:ext cx="7874000" cy="532637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1" name="Add-in 20">
                <a:extLst>
                  <a:ext uri="{FF2B5EF4-FFF2-40B4-BE49-F238E27FC236}">
                    <a16:creationId xmlns:a16="http://schemas.microsoft.com/office/drawing/2014/main" id="{DDDFEEA8-84DD-57B8-64A0-8AF20A2ACD7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5600" y="800102"/>
                <a:ext cx="7874000" cy="532637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B3227-B846-EFA8-3D63-53C890BAC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B34B9A-BBD9-25B8-F6F1-0CC1CB2BC42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9D4F3F-9424-DB39-C95D-0F3A273F0BD6}"/>
              </a:ext>
            </a:extLst>
          </p:cNvPr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5B97"/>
                </a:solidFill>
                <a:latin typeface="Aptos"/>
              </a:rPr>
              <a:t>08 • DECISIONS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2FDAC-4275-B54B-27FD-5FD8F1B72E00}"/>
              </a:ext>
            </a:extLst>
          </p:cNvPr>
          <p:cNvSpPr txBox="1"/>
          <p:nvPr/>
        </p:nvSpPr>
        <p:spPr>
          <a:xfrm>
            <a:off x="594360" y="621792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E36"/>
                </a:solidFill>
                <a:latin typeface="Aptos"/>
              </a:rPr>
              <a:t>Key findings → management actions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43F62A-AC85-F0CF-7644-128BC5B0D4C6}"/>
              </a:ext>
            </a:extLst>
          </p:cNvPr>
          <p:cNvSpPr txBox="1"/>
          <p:nvPr/>
        </p:nvSpPr>
        <p:spPr>
          <a:xfrm>
            <a:off x="594360" y="114300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C7E"/>
                </a:solidFill>
                <a:latin typeface="Aptos"/>
              </a:rPr>
              <a:t>Convert analytical evidence into accountable action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312DE-57A0-56C4-1D46-225D84A2EF38}"/>
              </a:ext>
            </a:extLst>
          </p:cNvPr>
          <p:cNvSpPr txBox="1"/>
          <p:nvPr/>
        </p:nvSpPr>
        <p:spPr>
          <a:xfrm>
            <a:off x="11155680" y="384048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E6C7E"/>
                </a:solidFill>
                <a:latin typeface="Aptos"/>
              </a:rPr>
              <a:t>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1CD15F-2F41-63B3-82D4-CEC332C660B6}"/>
              </a:ext>
            </a:extLst>
          </p:cNvPr>
          <p:cNvSpPr/>
          <p:nvPr/>
        </p:nvSpPr>
        <p:spPr>
          <a:xfrm>
            <a:off x="594360" y="1572768"/>
            <a:ext cx="11000232" cy="9144"/>
          </a:xfrm>
          <a:prstGeom prst="rect">
            <a:avLst/>
          </a:prstGeom>
          <a:solidFill>
            <a:srgbClr val="DE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DE5A43-2D64-4C7C-4CA7-46A63598E1D5}"/>
              </a:ext>
            </a:extLst>
          </p:cNvPr>
          <p:cNvSpPr txBox="1"/>
          <p:nvPr/>
        </p:nvSpPr>
        <p:spPr>
          <a:xfrm>
            <a:off x="594360" y="6537960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6C7E"/>
                </a:solidFill>
                <a:latin typeface="Aptos"/>
              </a:rPr>
              <a:t>ROBLOX AFRICA  •  MANAGEMENT ANALYTICS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35BB6F-63DE-07F8-154E-142F1CC09CEF}"/>
              </a:ext>
            </a:extLst>
          </p:cNvPr>
          <p:cNvSpPr/>
          <p:nvPr/>
        </p:nvSpPr>
        <p:spPr>
          <a:xfrm>
            <a:off x="594360" y="1874519"/>
            <a:ext cx="914399" cy="502920"/>
          </a:xfrm>
          <a:prstGeom prst="rect">
            <a:avLst/>
          </a:prstGeom>
          <a:solidFill>
            <a:srgbClr val="0F1E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968D52-40E4-ECAE-566A-8C7B6DB3FCC0}"/>
              </a:ext>
            </a:extLst>
          </p:cNvPr>
          <p:cNvSpPr txBox="1"/>
          <p:nvPr/>
        </p:nvSpPr>
        <p:spPr>
          <a:xfrm>
            <a:off x="704088" y="2039112"/>
            <a:ext cx="694943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PRIORITY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0F0EAE-2F8F-F786-EB84-4C9BBCAD7084}"/>
              </a:ext>
            </a:extLst>
          </p:cNvPr>
          <p:cNvSpPr/>
          <p:nvPr/>
        </p:nvSpPr>
        <p:spPr>
          <a:xfrm>
            <a:off x="1508760" y="1874519"/>
            <a:ext cx="3108960" cy="502920"/>
          </a:xfrm>
          <a:prstGeom prst="rect">
            <a:avLst/>
          </a:prstGeom>
          <a:solidFill>
            <a:srgbClr val="0F1E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7E795D-0830-55B9-0330-366AFFBE9301}"/>
              </a:ext>
            </a:extLst>
          </p:cNvPr>
          <p:cNvSpPr txBox="1"/>
          <p:nvPr/>
        </p:nvSpPr>
        <p:spPr>
          <a:xfrm>
            <a:off x="1618488" y="2039112"/>
            <a:ext cx="288950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FINDING / SIGNAL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D1FCAD-DA77-4AA1-A83E-861B7862343D}"/>
              </a:ext>
            </a:extLst>
          </p:cNvPr>
          <p:cNvSpPr/>
          <p:nvPr/>
        </p:nvSpPr>
        <p:spPr>
          <a:xfrm>
            <a:off x="4617720" y="1874519"/>
            <a:ext cx="3017520" cy="502920"/>
          </a:xfrm>
          <a:prstGeom prst="rect">
            <a:avLst/>
          </a:prstGeom>
          <a:solidFill>
            <a:srgbClr val="0F1E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55E73B-BDC0-A6BF-630D-BABE5C7A8A91}"/>
              </a:ext>
            </a:extLst>
          </p:cNvPr>
          <p:cNvSpPr txBox="1"/>
          <p:nvPr/>
        </p:nvSpPr>
        <p:spPr>
          <a:xfrm>
            <a:off x="4727448" y="2039112"/>
            <a:ext cx="2798063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RECOMMENDED ACTION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BAF1E7-1A38-D4FE-9446-5FE6BD8B3277}"/>
              </a:ext>
            </a:extLst>
          </p:cNvPr>
          <p:cNvSpPr/>
          <p:nvPr/>
        </p:nvSpPr>
        <p:spPr>
          <a:xfrm>
            <a:off x="7635240" y="1874519"/>
            <a:ext cx="2651760" cy="502920"/>
          </a:xfrm>
          <a:prstGeom prst="rect">
            <a:avLst/>
          </a:prstGeom>
          <a:solidFill>
            <a:srgbClr val="0F1E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9C41B7-2645-6EA7-E72E-0AB92608C222}"/>
              </a:ext>
            </a:extLst>
          </p:cNvPr>
          <p:cNvSpPr txBox="1"/>
          <p:nvPr/>
        </p:nvSpPr>
        <p:spPr>
          <a:xfrm>
            <a:off x="7744967" y="2039112"/>
            <a:ext cx="243230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EXPECTED IMPACT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F3A0A2-0CD7-AEBA-4006-D836A661B1CB}"/>
              </a:ext>
            </a:extLst>
          </p:cNvPr>
          <p:cNvSpPr/>
          <p:nvPr/>
        </p:nvSpPr>
        <p:spPr>
          <a:xfrm>
            <a:off x="594360" y="2377440"/>
            <a:ext cx="914399" cy="850392"/>
          </a:xfrm>
          <a:prstGeom prst="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03DE18-B223-0FC5-AA00-E1E466BCB714}"/>
              </a:ext>
            </a:extLst>
          </p:cNvPr>
          <p:cNvSpPr txBox="1"/>
          <p:nvPr/>
        </p:nvSpPr>
        <p:spPr>
          <a:xfrm>
            <a:off x="704088" y="2523744"/>
            <a:ext cx="694943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84343"/>
                </a:solidFill>
                <a:latin typeface="Aptos"/>
              </a:rPr>
              <a:t>HIGH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27D1E56-F044-72AF-F828-D8FCB3E9C6F6}"/>
              </a:ext>
            </a:extLst>
          </p:cNvPr>
          <p:cNvSpPr/>
          <p:nvPr/>
        </p:nvSpPr>
        <p:spPr>
          <a:xfrm>
            <a:off x="1508760" y="2377440"/>
            <a:ext cx="3108960" cy="850392"/>
          </a:xfrm>
          <a:prstGeom prst="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40EAC3-3F2A-5833-EA3B-E4D101CBE840}"/>
              </a:ext>
            </a:extLst>
          </p:cNvPr>
          <p:cNvSpPr txBox="1"/>
          <p:nvPr/>
        </p:nvSpPr>
        <p:spPr>
          <a:xfrm>
            <a:off x="1618488" y="2523744"/>
            <a:ext cx="2889504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000" b="1" dirty="0"/>
              <a:t>Workforce &amp; Costs</a:t>
            </a:r>
            <a:r>
              <a:rPr lang="en-US" sz="1000" dirty="0"/>
              <a:t> – Workforce is broadly distributed across departments, but departments produce different financial returns.</a:t>
            </a:r>
            <a:endParaRPr sz="1000" b="0" dirty="0">
              <a:solidFill>
                <a:srgbClr val="202A37"/>
              </a:solidFill>
              <a:latin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0BEDA2-3121-83AC-8B8E-B7F9C9E0E34F}"/>
              </a:ext>
            </a:extLst>
          </p:cNvPr>
          <p:cNvSpPr/>
          <p:nvPr/>
        </p:nvSpPr>
        <p:spPr>
          <a:xfrm>
            <a:off x="4617720" y="2377440"/>
            <a:ext cx="3017520" cy="850392"/>
          </a:xfrm>
          <a:prstGeom prst="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34873E-B95B-A9C7-76C6-A5E4F87D056F}"/>
              </a:ext>
            </a:extLst>
          </p:cNvPr>
          <p:cNvSpPr txBox="1"/>
          <p:nvPr/>
        </p:nvSpPr>
        <p:spPr>
          <a:xfrm>
            <a:off x="4727448" y="2523744"/>
            <a:ext cx="2798063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000" dirty="0"/>
              <a:t>Align staffing and budgets with </a:t>
            </a:r>
            <a:r>
              <a:rPr lang="en-US" sz="1000" b="1" dirty="0"/>
              <a:t>workload, cost and departmental efficiency</a:t>
            </a:r>
            <a:r>
              <a:rPr lang="en-US" sz="1000" dirty="0"/>
              <a:t>.</a:t>
            </a:r>
            <a:endParaRPr sz="1000" b="0" dirty="0">
              <a:solidFill>
                <a:srgbClr val="202A37"/>
              </a:solidFill>
              <a:latin typeface="Apto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38B83A7-37A4-0B7A-C108-6A6B05D1BEAE}"/>
              </a:ext>
            </a:extLst>
          </p:cNvPr>
          <p:cNvSpPr/>
          <p:nvPr/>
        </p:nvSpPr>
        <p:spPr>
          <a:xfrm>
            <a:off x="7635240" y="2377440"/>
            <a:ext cx="2651760" cy="850392"/>
          </a:xfrm>
          <a:prstGeom prst="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911EC1-B424-09C5-1663-1F7205DDC95F}"/>
              </a:ext>
            </a:extLst>
          </p:cNvPr>
          <p:cNvSpPr txBox="1"/>
          <p:nvPr/>
        </p:nvSpPr>
        <p:spPr>
          <a:xfrm>
            <a:off x="7744967" y="2523744"/>
            <a:ext cx="2432304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000" dirty="0"/>
              <a:t>Better resource allocation and cost control.</a:t>
            </a:r>
            <a:endParaRPr sz="1000" b="0" dirty="0">
              <a:solidFill>
                <a:srgbClr val="202A37"/>
              </a:solidFill>
              <a:latin typeface="Apto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F2A1E6-F85E-48CD-8554-314E220A760A}"/>
              </a:ext>
            </a:extLst>
          </p:cNvPr>
          <p:cNvSpPr/>
          <p:nvPr/>
        </p:nvSpPr>
        <p:spPr>
          <a:xfrm>
            <a:off x="594360" y="3227832"/>
            <a:ext cx="914399" cy="850392"/>
          </a:xfrm>
          <a:prstGeom prst="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A0431D-E4FA-BEE9-4558-234B84CFF410}"/>
              </a:ext>
            </a:extLst>
          </p:cNvPr>
          <p:cNvSpPr txBox="1"/>
          <p:nvPr/>
        </p:nvSpPr>
        <p:spPr>
          <a:xfrm>
            <a:off x="704088" y="3374136"/>
            <a:ext cx="694943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B84343"/>
                </a:solidFill>
                <a:latin typeface="Aptos"/>
              </a:rPr>
              <a:t>HIGH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6DE878-3C02-E768-E8BB-2AF0B13C54C3}"/>
              </a:ext>
            </a:extLst>
          </p:cNvPr>
          <p:cNvSpPr/>
          <p:nvPr/>
        </p:nvSpPr>
        <p:spPr>
          <a:xfrm>
            <a:off x="1508760" y="3227832"/>
            <a:ext cx="3108960" cy="850392"/>
          </a:xfrm>
          <a:prstGeom prst="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FAE5CB-46B8-116D-6519-119974BB1CC0}"/>
              </a:ext>
            </a:extLst>
          </p:cNvPr>
          <p:cNvSpPr txBox="1"/>
          <p:nvPr/>
        </p:nvSpPr>
        <p:spPr>
          <a:xfrm>
            <a:off x="1618488" y="3374136"/>
            <a:ext cx="2889504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000" b="1" dirty="0"/>
              <a:t>Talent Placement</a:t>
            </a:r>
            <a:r>
              <a:rPr lang="en-US" sz="1000" dirty="0"/>
              <a:t> – Education and field of study alone are insufficient for determining effective placement.</a:t>
            </a:r>
            <a:endParaRPr sz="1000" b="0" dirty="0">
              <a:solidFill>
                <a:srgbClr val="202A37"/>
              </a:solidFill>
              <a:latin typeface="Apto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18E496C-B190-8511-0A55-68CEF3C14D65}"/>
              </a:ext>
            </a:extLst>
          </p:cNvPr>
          <p:cNvSpPr/>
          <p:nvPr/>
        </p:nvSpPr>
        <p:spPr>
          <a:xfrm>
            <a:off x="4617720" y="3227832"/>
            <a:ext cx="3017520" cy="850392"/>
          </a:xfrm>
          <a:prstGeom prst="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AC70BB-407C-FEAA-64EC-185D4AC12B69}"/>
              </a:ext>
            </a:extLst>
          </p:cNvPr>
          <p:cNvSpPr txBox="1"/>
          <p:nvPr/>
        </p:nvSpPr>
        <p:spPr>
          <a:xfrm>
            <a:off x="4727448" y="3374136"/>
            <a:ext cx="2798063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000" dirty="0"/>
              <a:t>Use </a:t>
            </a:r>
            <a:r>
              <a:rPr lang="en-US" sz="1000" b="1" dirty="0"/>
              <a:t>skills, experience, competencies and performance</a:t>
            </a:r>
            <a:r>
              <a:rPr lang="en-US" sz="1000" dirty="0"/>
              <a:t> for hiring, placement and promotion.</a:t>
            </a:r>
            <a:endParaRPr sz="1000" b="0" dirty="0">
              <a:solidFill>
                <a:srgbClr val="202A37"/>
              </a:solidFill>
              <a:latin typeface="Apto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48A4E0-3850-8BFA-C5FB-4889B3FBB53F}"/>
              </a:ext>
            </a:extLst>
          </p:cNvPr>
          <p:cNvSpPr/>
          <p:nvPr/>
        </p:nvSpPr>
        <p:spPr>
          <a:xfrm>
            <a:off x="7635240" y="3227832"/>
            <a:ext cx="2651760" cy="850392"/>
          </a:xfrm>
          <a:prstGeom prst="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E0221F-B634-667C-2F01-F11829F0094A}"/>
              </a:ext>
            </a:extLst>
          </p:cNvPr>
          <p:cNvSpPr txBox="1"/>
          <p:nvPr/>
        </p:nvSpPr>
        <p:spPr>
          <a:xfrm>
            <a:off x="7744967" y="3374136"/>
            <a:ext cx="243230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000" dirty="0"/>
              <a:t>Better talent-role fit and stronger hiring decisions.</a:t>
            </a:r>
            <a:endParaRPr sz="1000" b="0" dirty="0">
              <a:solidFill>
                <a:srgbClr val="202A37"/>
              </a:solidFill>
              <a:latin typeface="Apto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AB4E035-1BD4-33A9-EBA9-EAF039C0010A}"/>
              </a:ext>
            </a:extLst>
          </p:cNvPr>
          <p:cNvSpPr/>
          <p:nvPr/>
        </p:nvSpPr>
        <p:spPr>
          <a:xfrm>
            <a:off x="594360" y="4078224"/>
            <a:ext cx="914399" cy="850392"/>
          </a:xfrm>
          <a:prstGeom prst="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8A4988-4CF7-1590-09F4-5985DC16663A}"/>
              </a:ext>
            </a:extLst>
          </p:cNvPr>
          <p:cNvSpPr txBox="1"/>
          <p:nvPr/>
        </p:nvSpPr>
        <p:spPr>
          <a:xfrm>
            <a:off x="704088" y="4224528"/>
            <a:ext cx="694943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1" dirty="0">
                <a:solidFill>
                  <a:srgbClr val="D8A034"/>
                </a:solidFill>
                <a:latin typeface="Aptos"/>
              </a:rPr>
              <a:t>HIGH</a:t>
            </a:r>
            <a:endParaRPr sz="1000" b="1" dirty="0">
              <a:solidFill>
                <a:srgbClr val="D8A034"/>
              </a:solidFill>
              <a:latin typeface="Apto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B703421-2320-2F3A-A564-4A55DC3FD1D1}"/>
              </a:ext>
            </a:extLst>
          </p:cNvPr>
          <p:cNvSpPr/>
          <p:nvPr/>
        </p:nvSpPr>
        <p:spPr>
          <a:xfrm>
            <a:off x="1508760" y="4078224"/>
            <a:ext cx="3108960" cy="850392"/>
          </a:xfrm>
          <a:prstGeom prst="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1A063C-3367-DC2F-D238-67913F585FEE}"/>
              </a:ext>
            </a:extLst>
          </p:cNvPr>
          <p:cNvSpPr txBox="1"/>
          <p:nvPr/>
        </p:nvSpPr>
        <p:spPr>
          <a:xfrm>
            <a:off x="1618488" y="4224528"/>
            <a:ext cx="2889504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000" b="1" dirty="0"/>
              <a:t>Performance &amp; Development</a:t>
            </a:r>
            <a:r>
              <a:rPr lang="en-US" sz="1000" dirty="0"/>
              <a:t> – Performance remains ~3.60, while more training hours do not correspond to higher performance.</a:t>
            </a:r>
            <a:endParaRPr sz="1000" b="0" dirty="0">
              <a:solidFill>
                <a:srgbClr val="202A37"/>
              </a:solidFill>
              <a:latin typeface="Apto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7FE2DB-49D5-0640-8DDB-48F9D94EC291}"/>
              </a:ext>
            </a:extLst>
          </p:cNvPr>
          <p:cNvSpPr/>
          <p:nvPr/>
        </p:nvSpPr>
        <p:spPr>
          <a:xfrm>
            <a:off x="4617720" y="4078224"/>
            <a:ext cx="3017520" cy="850392"/>
          </a:xfrm>
          <a:prstGeom prst="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5CC799-3A8D-9A57-CCCA-9DEAB92F011E}"/>
              </a:ext>
            </a:extLst>
          </p:cNvPr>
          <p:cNvSpPr txBox="1"/>
          <p:nvPr/>
        </p:nvSpPr>
        <p:spPr>
          <a:xfrm>
            <a:off x="4727448" y="4224528"/>
            <a:ext cx="2798063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000" dirty="0"/>
              <a:t>Measure </a:t>
            </a:r>
            <a:r>
              <a:rPr lang="en-US" sz="1000" b="1" dirty="0"/>
              <a:t>training outcomes and skill improvement</a:t>
            </a:r>
            <a:r>
              <a:rPr lang="en-US" sz="1000" dirty="0"/>
              <a:t>, not hours alone.</a:t>
            </a:r>
            <a:endParaRPr sz="1000" b="0" dirty="0">
              <a:solidFill>
                <a:srgbClr val="202A37"/>
              </a:solidFill>
              <a:latin typeface="Apto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4AB312E-FB6F-D8AE-07CF-46AD74FD49DB}"/>
              </a:ext>
            </a:extLst>
          </p:cNvPr>
          <p:cNvSpPr/>
          <p:nvPr/>
        </p:nvSpPr>
        <p:spPr>
          <a:xfrm>
            <a:off x="7635240" y="4078224"/>
            <a:ext cx="2651760" cy="850392"/>
          </a:xfrm>
          <a:prstGeom prst="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028454-9C0C-D196-7E83-2CC0D64C975A}"/>
              </a:ext>
            </a:extLst>
          </p:cNvPr>
          <p:cNvSpPr txBox="1"/>
          <p:nvPr/>
        </p:nvSpPr>
        <p:spPr>
          <a:xfrm>
            <a:off x="7744967" y="4224528"/>
            <a:ext cx="243230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000" dirty="0"/>
              <a:t>More effective training investment and improved productivity</a:t>
            </a:r>
            <a:r>
              <a:rPr sz="1000" b="0" dirty="0">
                <a:solidFill>
                  <a:srgbClr val="202A37"/>
                </a:solidFill>
                <a:latin typeface="Aptos"/>
              </a:rPr>
              <a:t>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C0384FA-81EB-C8ED-5285-852C98F06C74}"/>
              </a:ext>
            </a:extLst>
          </p:cNvPr>
          <p:cNvSpPr/>
          <p:nvPr/>
        </p:nvSpPr>
        <p:spPr>
          <a:xfrm>
            <a:off x="594360" y="4928616"/>
            <a:ext cx="914399" cy="850392"/>
          </a:xfrm>
          <a:prstGeom prst="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DAF2EA-7148-E790-A80F-25ACC3D9844B}"/>
              </a:ext>
            </a:extLst>
          </p:cNvPr>
          <p:cNvSpPr txBox="1"/>
          <p:nvPr/>
        </p:nvSpPr>
        <p:spPr>
          <a:xfrm>
            <a:off x="704088" y="5074920"/>
            <a:ext cx="694943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84343"/>
                </a:solidFill>
                <a:latin typeface="Aptos"/>
              </a:rPr>
              <a:t>HIGH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91AE224-E06D-EA98-2130-DDA23A872EB8}"/>
              </a:ext>
            </a:extLst>
          </p:cNvPr>
          <p:cNvSpPr/>
          <p:nvPr/>
        </p:nvSpPr>
        <p:spPr>
          <a:xfrm>
            <a:off x="1508760" y="4928616"/>
            <a:ext cx="3108960" cy="850392"/>
          </a:xfrm>
          <a:prstGeom prst="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FD28F2-6227-3CA0-8419-A699B7377325}"/>
              </a:ext>
            </a:extLst>
          </p:cNvPr>
          <p:cNvSpPr txBox="1"/>
          <p:nvPr/>
        </p:nvSpPr>
        <p:spPr>
          <a:xfrm>
            <a:off x="1618488" y="5074920"/>
            <a:ext cx="288950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000" b="1" dirty="0"/>
              <a:t>Health &amp; Workforce Risk</a:t>
            </a:r>
            <a:r>
              <a:rPr lang="en-US" sz="1000" dirty="0"/>
              <a:t> – A significant proportion of insurance records are Pending or Expired.</a:t>
            </a:r>
            <a:endParaRPr sz="1000" b="0" dirty="0">
              <a:solidFill>
                <a:srgbClr val="202A37"/>
              </a:solidFill>
              <a:latin typeface="Apto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C86B88F-821D-7059-F1AA-C7C7A41C5049}"/>
              </a:ext>
            </a:extLst>
          </p:cNvPr>
          <p:cNvSpPr/>
          <p:nvPr/>
        </p:nvSpPr>
        <p:spPr>
          <a:xfrm>
            <a:off x="4617720" y="4928616"/>
            <a:ext cx="3017520" cy="850392"/>
          </a:xfrm>
          <a:prstGeom prst="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B5E8D5-CFAA-7831-927A-7BDE0E00502B}"/>
              </a:ext>
            </a:extLst>
          </p:cNvPr>
          <p:cNvSpPr txBox="1"/>
          <p:nvPr/>
        </p:nvSpPr>
        <p:spPr>
          <a:xfrm>
            <a:off x="4727448" y="5074920"/>
            <a:ext cx="2798063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000" dirty="0"/>
              <a:t>Strengthen </a:t>
            </a:r>
            <a:r>
              <a:rPr lang="en-US" sz="1000" b="1" dirty="0"/>
              <a:t>insurance monitoring and renewal processes</a:t>
            </a:r>
            <a:r>
              <a:rPr lang="en-US" sz="1000" dirty="0"/>
              <a:t>.</a:t>
            </a:r>
            <a:endParaRPr sz="1000" b="0" dirty="0">
              <a:solidFill>
                <a:srgbClr val="202A37"/>
              </a:solidFill>
              <a:latin typeface="Apto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7F794D3-10A9-B3E8-C399-23BDA6DE8A81}"/>
              </a:ext>
            </a:extLst>
          </p:cNvPr>
          <p:cNvSpPr/>
          <p:nvPr/>
        </p:nvSpPr>
        <p:spPr>
          <a:xfrm>
            <a:off x="7635240" y="4928616"/>
            <a:ext cx="2651760" cy="850392"/>
          </a:xfrm>
          <a:prstGeom prst="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5286A12-9EED-734E-95D1-043019AA1729}"/>
              </a:ext>
            </a:extLst>
          </p:cNvPr>
          <p:cNvSpPr txBox="1"/>
          <p:nvPr/>
        </p:nvSpPr>
        <p:spPr>
          <a:xfrm>
            <a:off x="7744967" y="5074920"/>
            <a:ext cx="243230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000" dirty="0"/>
              <a:t>Reduced workforce risk and improved benefits management.</a:t>
            </a:r>
            <a:endParaRPr sz="1000" b="0" dirty="0">
              <a:solidFill>
                <a:srgbClr val="202A37"/>
              </a:solidFill>
              <a:latin typeface="Apto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24ECB11-BEB8-5679-3748-1CC9ED4568DB}"/>
              </a:ext>
            </a:extLst>
          </p:cNvPr>
          <p:cNvSpPr txBox="1"/>
          <p:nvPr/>
        </p:nvSpPr>
        <p:spPr>
          <a:xfrm>
            <a:off x="8412480" y="6534835"/>
            <a:ext cx="31546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800" dirty="0">
                <a:solidFill>
                  <a:srgbClr val="5E6C7E"/>
                </a:solidFill>
                <a:latin typeface="Aptos"/>
              </a:rPr>
              <a:t>S</a:t>
            </a:r>
            <a:r>
              <a:rPr sz="800" b="0" dirty="0">
                <a:solidFill>
                  <a:srgbClr val="5E6C7E"/>
                </a:solidFill>
                <a:latin typeface="Aptos"/>
              </a:rPr>
              <a:t>takeholder presentation</a:t>
            </a:r>
          </a:p>
        </p:txBody>
      </p:sp>
    </p:spTree>
    <p:extLst>
      <p:ext uri="{BB962C8B-B14F-4D97-AF65-F5344CB8AC3E}">
        <p14:creationId xmlns:p14="http://schemas.microsoft.com/office/powerpoint/2010/main" val="308038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5B97"/>
                </a:solidFill>
                <a:latin typeface="Aptos"/>
              </a:rPr>
              <a:t>08 •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E36"/>
                </a:solidFill>
                <a:latin typeface="Aptos"/>
              </a:rPr>
              <a:t>Key findings → management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C7E"/>
                </a:solidFill>
                <a:latin typeface="Aptos"/>
              </a:rPr>
              <a:t>Convert analytical evidence into accountable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1000" b="1" dirty="0">
                <a:solidFill>
                  <a:srgbClr val="5E6C7E"/>
                </a:solidFill>
                <a:latin typeface="Aptos"/>
              </a:rPr>
              <a:t>10</a:t>
            </a:r>
            <a:endParaRPr sz="1000" b="1" dirty="0">
              <a:solidFill>
                <a:srgbClr val="5E6C7E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572768"/>
            <a:ext cx="11000232" cy="9144"/>
          </a:xfrm>
          <a:prstGeom prst="rect">
            <a:avLst/>
          </a:prstGeom>
          <a:solidFill>
            <a:srgbClr val="DE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37960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6C7E"/>
                </a:solidFill>
                <a:latin typeface="Aptos"/>
              </a:rPr>
              <a:t>ROBLOX AFRICA  •  MANAGEMENT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537960"/>
            <a:ext cx="31546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800" dirty="0">
                <a:solidFill>
                  <a:srgbClr val="5E6C7E"/>
                </a:solidFill>
                <a:latin typeface="Aptos"/>
              </a:rPr>
              <a:t>S</a:t>
            </a:r>
            <a:r>
              <a:rPr sz="800" b="0" dirty="0">
                <a:solidFill>
                  <a:srgbClr val="5E6C7E"/>
                </a:solidFill>
                <a:latin typeface="Aptos"/>
              </a:rPr>
              <a:t>takeholder presentation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874519"/>
            <a:ext cx="914399" cy="502920"/>
          </a:xfrm>
          <a:prstGeom prst="rect">
            <a:avLst/>
          </a:prstGeom>
          <a:solidFill>
            <a:srgbClr val="0F1E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2039112"/>
            <a:ext cx="694943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PRIORITY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8760" y="1874519"/>
            <a:ext cx="3108960" cy="502920"/>
          </a:xfrm>
          <a:prstGeom prst="rect">
            <a:avLst/>
          </a:prstGeom>
          <a:solidFill>
            <a:srgbClr val="0F1E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18488" y="2039112"/>
            <a:ext cx="288950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FINDING / SIGNAL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1874519"/>
            <a:ext cx="3017520" cy="502920"/>
          </a:xfrm>
          <a:prstGeom prst="rect">
            <a:avLst/>
          </a:prstGeom>
          <a:solidFill>
            <a:srgbClr val="0F1E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798063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RECOMMENDED 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1874519"/>
            <a:ext cx="2651760" cy="502920"/>
          </a:xfrm>
          <a:prstGeom prst="rect">
            <a:avLst/>
          </a:prstGeom>
          <a:solidFill>
            <a:srgbClr val="0F1E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44967" y="2039112"/>
            <a:ext cx="243230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EXPECTED IMPACT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377440"/>
            <a:ext cx="914399" cy="850392"/>
          </a:xfrm>
          <a:prstGeom prst="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2523744"/>
            <a:ext cx="694943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84343"/>
                </a:solidFill>
                <a:latin typeface="Aptos"/>
              </a:rPr>
              <a:t>HIGH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08760" y="2377440"/>
            <a:ext cx="3108960" cy="850392"/>
          </a:xfrm>
          <a:prstGeom prst="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18488" y="2523744"/>
            <a:ext cx="2889504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000" b="1" dirty="0"/>
              <a:t>Financial Efficiency</a:t>
            </a:r>
            <a:r>
              <a:rPr lang="en-US" sz="1000" dirty="0"/>
              <a:t> – Revenue, cost, net contribution and revenue-to-cost efficiency vary across departments.</a:t>
            </a:r>
            <a:endParaRPr sz="1000" b="0" dirty="0">
              <a:solidFill>
                <a:srgbClr val="202A37"/>
              </a:solidFill>
              <a:latin typeface="Apto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617720" y="2377440"/>
            <a:ext cx="3017520" cy="850392"/>
          </a:xfrm>
          <a:prstGeom prst="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27448" y="2523744"/>
            <a:ext cx="2798063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000" dirty="0"/>
              <a:t>Use </a:t>
            </a:r>
            <a:r>
              <a:rPr lang="en-US" sz="1000" b="1" dirty="0"/>
              <a:t>financial efficiency KPIs</a:t>
            </a:r>
            <a:r>
              <a:rPr lang="en-US" sz="1000" dirty="0"/>
              <a:t> for planning and budgeting.</a:t>
            </a:r>
            <a:endParaRPr sz="1000" b="0" dirty="0">
              <a:solidFill>
                <a:srgbClr val="202A37"/>
              </a:solidFill>
              <a:latin typeface="Apto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635240" y="2377440"/>
            <a:ext cx="2651760" cy="850392"/>
          </a:xfrm>
          <a:prstGeom prst="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26680" y="2514600"/>
            <a:ext cx="243230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000" dirty="0"/>
              <a:t>Improved budgeting and department cost efficiency.</a:t>
            </a:r>
            <a:endParaRPr sz="1000" b="0" dirty="0">
              <a:solidFill>
                <a:srgbClr val="202A37"/>
              </a:solidFill>
              <a:latin typeface="Apto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94360" y="3227832"/>
            <a:ext cx="914399" cy="850392"/>
          </a:xfrm>
          <a:prstGeom prst="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" y="3374136"/>
            <a:ext cx="694943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B84343"/>
                </a:solidFill>
                <a:latin typeface="Aptos"/>
              </a:rPr>
              <a:t>HIGH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08760" y="3227832"/>
            <a:ext cx="3108960" cy="850392"/>
          </a:xfrm>
          <a:prstGeom prst="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18488" y="3374136"/>
            <a:ext cx="2889504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000" b="1" dirty="0"/>
              <a:t>Data &amp; Future Analytics</a:t>
            </a:r>
            <a:r>
              <a:rPr lang="en-US" sz="1000" dirty="0"/>
              <a:t> – Current data supports descriptive analysis but needs stronger quality and additional variables for prediction.</a:t>
            </a:r>
            <a:endParaRPr sz="1000" b="0" dirty="0">
              <a:solidFill>
                <a:srgbClr val="202A37"/>
              </a:solidFill>
              <a:latin typeface="Apto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617720" y="3227832"/>
            <a:ext cx="3017520" cy="850392"/>
          </a:xfrm>
          <a:prstGeom prst="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27448" y="3374136"/>
            <a:ext cx="2798063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000" dirty="0"/>
              <a:t>Improve </a:t>
            </a:r>
            <a:r>
              <a:rPr lang="en-US" sz="1000" b="1" dirty="0"/>
              <a:t>data quality and governance</a:t>
            </a:r>
            <a:r>
              <a:rPr lang="en-US" sz="1000" dirty="0"/>
              <a:t> and prepare data for predictive modelling.</a:t>
            </a:r>
            <a:endParaRPr sz="1000" b="0" dirty="0">
              <a:solidFill>
                <a:srgbClr val="202A37"/>
              </a:solidFill>
              <a:latin typeface="Apto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635240" y="3227832"/>
            <a:ext cx="2651760" cy="850392"/>
          </a:xfrm>
          <a:prstGeom prst="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44967" y="3374136"/>
            <a:ext cx="243230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000" dirty="0"/>
              <a:t>Reliable decision-making and readiness for future forecasting</a:t>
            </a:r>
            <a:endParaRPr sz="1000" b="0" dirty="0">
              <a:solidFill>
                <a:srgbClr val="202A3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96B4"/>
                </a:solidFill>
                <a:latin typeface="Aptos"/>
              </a:rPr>
              <a:t>09 •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132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3000" b="1" dirty="0">
                <a:solidFill>
                  <a:srgbClr val="FFFFFF"/>
                </a:solidFill>
                <a:latin typeface="Aptos"/>
              </a:rPr>
              <a:t>CONCLUSION</a:t>
            </a:r>
            <a:endParaRPr sz="3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6682" y="1571317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dirty="0">
                <a:solidFill>
                  <a:srgbClr val="1F96B4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1" y="1571317"/>
            <a:ext cx="21031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ptos"/>
              </a:rPr>
              <a:t>KEY TAKEAWAY</a:t>
            </a:r>
            <a:endParaRPr sz="11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79" y="1845118"/>
            <a:ext cx="10490201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The analysis provides management with an integrated view of workforce structure, talent placement, employee performance, financial efficiency and workforce health risks, supporting more informed workforce decisions.</a:t>
            </a:r>
            <a:endParaRPr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1576" y="3093297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dirty="0">
                <a:solidFill>
                  <a:srgbClr val="1F96B4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8162" y="3056247"/>
            <a:ext cx="21031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ptos"/>
              </a:rPr>
              <a:t>NEXT STEP</a:t>
            </a:r>
            <a:endParaRPr sz="11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4484" y="3504777"/>
            <a:ext cx="104902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Strengthen workforce data quality and expand skills, employee movement and workforce-risk data to support future predictive analytics, including attrition forecasting.</a:t>
            </a:r>
            <a:endParaRPr sz="16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22" name="Rounded Rectangle 9">
            <a:extLst>
              <a:ext uri="{FF2B5EF4-FFF2-40B4-BE49-F238E27FC236}">
                <a16:creationId xmlns:a16="http://schemas.microsoft.com/office/drawing/2014/main" id="{907BB548-0CBD-4086-00CC-CADCEAB23A61}"/>
              </a:ext>
            </a:extLst>
          </p:cNvPr>
          <p:cNvSpPr/>
          <p:nvPr/>
        </p:nvSpPr>
        <p:spPr>
          <a:xfrm>
            <a:off x="1083056" y="4537693"/>
            <a:ext cx="9577527" cy="914400"/>
          </a:xfrm>
          <a:prstGeom prst="roundRect">
            <a:avLst/>
          </a:prstGeom>
          <a:solidFill>
            <a:srgbClr val="182B48"/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F6B184-6924-8FA5-4ADB-FA8E5030A6B1}"/>
              </a:ext>
            </a:extLst>
          </p:cNvPr>
          <p:cNvSpPr txBox="1"/>
          <p:nvPr/>
        </p:nvSpPr>
        <p:spPr>
          <a:xfrm>
            <a:off x="1259331" y="4763679"/>
            <a:ext cx="9103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From workforce data to workforce intelligence: enabling better talent, cost and risk decisions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4B471-F04A-509B-02A2-3014E8DE7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553316-E71F-4721-90A4-BCE62F105C4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C7DD1FD7-418C-6866-377E-D65F268A49BC}"/>
              </a:ext>
            </a:extLst>
          </p:cNvPr>
          <p:cNvSpPr/>
          <p:nvPr/>
        </p:nvSpPr>
        <p:spPr>
          <a:xfrm>
            <a:off x="0" y="265176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C1A2083C-CC1A-85C0-C8A5-AC5A52625094}"/>
              </a:ext>
            </a:extLst>
          </p:cNvPr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27223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webextension1.xml><?xml version="1.0" encoding="utf-8"?>
<we:webextension xmlns:we="http://schemas.microsoft.com/office/webextensions/webextension/2010/11" id="{425BF751-75C7-43A6-B661-8879013A67BA}">
  <we:reference id="wa200003233" version="2.0.0.3" store="en-US" storeType="OMEX"/>
  <we:alternateReferences>
    <we:reference id="WA200003233" version="2.0.0.3" store="" storeType="OMEX"/>
  </we:alternateReferences>
  <we:properties>
    <we:property name="artifactViewState" value="&quot;live&quot;"/>
    <we:property name="backgroundColor" value="&quot;#FFFFFF&quot;"/>
    <we:property name="bookmark" value="&quot;H4sIAAAAAAAAA+1aTW/bOBD9K4YuvRgLipQoMbfECYoFdhdBU/SyCIIhOXbUyqJA0Um8gf/7jiSnjVunXjRorHpzi8UhOW/e0+OHch/ZoqlLWP4Fc4yOohPnPs3BfxrF0Tiq+mdpliirpU5Bac4TbVjatro6FK5qoqP7KICfYfhQNAso24Ho4d+X4wjK8hxm7a8plA2Ooxp94yooi3+wD6am4Be4Gkd4V5fOQzvkRYCA7bA3FE6/KYX4N0EzggnFDV6gCf1TlgrkmdBMKhYbxgBsQmFNH9BltjWkHbqbfuKqAEVF03SxcmrinInEgrQ2RRWjap9PizKsQ/Ty7K72hI4wL+u2OMf2BiqDNuogeGz6jO+jPxGahe9wnG00XLiFN/gOp11TFYqwpHGMm9dQLa+u/ZXVo5vbK5xTQZaIV7V3lAFGK6rSuXdUw67DexegHE2oG1ZNV7cu4trdTjxSAW10xFaX9KQpqlm5rvcX6O/79A14u24iRvVHKl0LlLo5b9GfLDusp4V/KDoffwVnLzgJGEVxxhMrgTEjhLRC2QzznYRNqDYz5wvTQd7kbOLKxbz6aVDO1u2jVuGLZgtf46Ho6iHVbUnuFlW5aIgAtCfgJ9fgw7C19Rjr6vLBZijs4yMjWcumz/nFdUJypxChjdUszyWpXbIUdaI7vX+XjIB3Qbu7TQra0RIpOLBYWUYOybgll4eh293zZPmLeN2mHtuQVCjDkkxJHauMGwU5Y0M2uuMZjt56t6gP3+L6Sm51ub37yGMaegdJ09RmGrMMgZxEplZYPWQhnWJNhZ1jFQ5XSU8LaMi2NAB5b4hjrW+EbKqzqbEKpdA8Ztb+svreKZ2mLAz6DdVEc6SjWPuHhQAdyrqfrsC+3dmuGbsi3Ed/FFSYfuwPUC7aYd+cUg/rbqs3LdPrJWgr212PZk9c57kVQidK2pRlSaqNEruPa3vk+tw1xY8e0/5HTD8qU8+zQo6JzCXLk4TOeKmWsPuUt7cV4bir3mezHL1r7zIOcrP6BNK1iBROFRNK5VwkPOdxnr5uNH7qRmMASR7fkMHMHkmCNqDDznTH9dmLZop+6vy8neUKKiiXTdE8lfb5l9jRhXH+hxwmgC7x7O4/2kv8tb285AvZe4rJdCryKcu5YrFK4jhlYvALwe8VzdIRdfArwTdQ17TlKuGc50zGUgiIc8Z378kP8H0bEo/PxN4TazMuFeQxGMyQYZxzvvtWaljEHoeAlT2Y1/NZyHtSMYVM04ZbiSSVmidi4FeNu7+pvB6udn9ZQCON0EIrwUHlwJXSZsisf+csPYDd5esntL3fDX5zizBNc8EZKBlnljHgkulsyAp/S+5MpnSo+rauWoRXYT9DF2tZ06baZgmzGDNMGZNJNuhL0Cdl/bpKP8FxR/M2zG4Rmpr23udQ4RbshBloGLsDf/efWZ+hr1b/AqZIPSERJgAA&quot;"/>
    <we:property name="creatorSessionId" value="&quot;74e44672-45d3-4d26-b50b-aaa6370e622d&quot;"/>
    <we:property name="creatorTenantId" value="&quot;bd697c1b-c481-479c-841e-c618542675c3&quot;"/>
    <we:property name="creatorUserId" value="&quot;10032005FD2FD06B&quot;"/>
    <we:property name="datasetId" value="&quot;ba8c48e9-f1d3-4cc1-aee0-a79f888db4c8&quot;"/>
    <we:property name="embedUrl" value="&quot;/reportEmbed?reportId=2fb33e39-6b59-4d6d-9e49-5ec36663af7e&amp;groupId=56339d2c-64b1-4d0e-bd05-3556e4685fcc&amp;w=2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+1aTW/bOBD9K4YuvRgLipQoMTfHCYpFN23QFL0sAmMojh21sihQchJv4P++o4+0cetUiwaNVW9uNjki5817eiIp3XkmLYsM1m9hid6Rd2zt5yW4zyPfG3t51/bu3Zuzyfs3s7eTs1NqtkWV2rz0ju68CtwCq49puYKsHoEa/74ce5Bl57Co/80hK3HsFehKm0OW/oNtMHVVboWbsYe3RWYd1ENeVFBhPew1hdN/mtv/Q9CMkFTpNV5gUrWtLBTII6GZVMxPGAMwAYWVbUCT2c6Qeuhm+qnNK0hzmqaJlfPEj5kIDEhjQlQ+qrp9nmZVF6LXp7eFI3SEeV3UVZmYa8gTNF4DwWHZZnznnSGUK9fgON3quLArl+B7nDddeZVWaxonscsC8vXsys2MHl3fzHBJBVkjzgpnKQP0NlSlc2ephs0FH2wF2WhKl2FeNnVrIq7szdQhFdB4R2xzSS1lmi+yrt5foX9o00/Ama6LGNWfqHQ1ULrMOoPueN1gPUndfdH5+Bs4e8FJwCiKMx4YCYwlQkgjlIkw7iVsSrVZWJcmDeRtzqY2Wy3zXwbltOsf1QpflTv4Gg9FV/ep7kqyX1TZqiQC0ByDm16Bq4atrYdYN5f3NkNhnx4YSSebNudn1wnJnUKEToxmcSxJ7ZKFqAPd6P2HZFR4W2l7u01BPVogBQfmK8PIIRk3UaBg6Hb3NFn+Jl63rcc6JBQqYUGkpPZVxBMFMWNDNrrJAkevnV0Vh29xbSV3utzefeQhDa2DhGFoIo1RhEBOIkMjjB6ykE6woMIuMa8OV0mPC2jItjQAeW+Jo9M3QjTX0TwxCqXQ3GfG/Lb67pVOmaUJui3VeEukrVj9w0AFDcqinS7Ftt+aphubItx5f6VUmHbsj5Ct6mFfndAVxt7kr2qmu0fQTrabK8o9cR3HRggdKGlCFgWhTpTo367tketzW6Y/u037HzH9oEwtzwo5BjKWLA4C2uOFWkL/Lm9vT4RJU70vZjl6X59lHORi9RGknYgUzhUTSsVcBDzmfhy+LDR+6UJjAElOrslgFg8kQQvQYWfac3z2rJmim1u3rGeZQQ7ZukzLx9I+/xo7ukis+ymHqUBneHr7H+3F/9ZenvOGbD0liXQo4jmLuWK+Cnw/ZGLwD4I/c5qlIergnwTfQe1oi1XAOY+Z9KUQ4MeM96/JD/B+GxKPT8TeEmsiLhXEPiQYIUM/5rz/VGpYxE6qCnNzMLfnk5C3pGIIkaYFtxJBKDUPxMCPGvvfqbxsrvrfLGAiE6GFVoKDioErpZMhs/6DvfQAVpcvr9D2fjb43SnCPIwFZ6CkHxnGgEumoyEr/DW5M5nSoerb2HxVvQj7CbroZE2LahMFzKDPMGRMBtGgD0EflfXLU/oRjhuad2G2q6osaO19DjnuwE6YgYYxPfibL7O8ZhIqd6qzvoLV32t9KdVm8y9ojxwaOiYAAA==&quot;"/>
    <we:property name="isFiltersActionButtonVisible" value="true"/>
    <we:property name="isVisualContainerHeaderHidden" value="false"/>
    <we:property name="pageDisplayName" value="&quot;Executive Work Force &quot;"/>
    <we:property name="pageName" value="&quot;053e273b06901c00aad4&quot;"/>
    <we:property name="reportEmbeddedTime" value="&quot;2026-08-09T08:02:47.401Z&quot;"/>
    <we:property name="reportName" value="&quot;Roblox_Africa_dasboard&quot;"/>
    <we:property name="reportState" value="&quot;CONNECTED&quot;"/>
    <we:property name="reportUrl" value="&quot;/groups/56339d2c-64b1-4d0e-bd05-3556e4685fcc/reports/2fb33e39-6b59-4d6d-9e49-5ec36663af7e/053e273b06901c00aad4?bookmarkGuid=30ef6431-a239-4b90-9e0b-e63ad3625e8b&amp;bookmarkUsage=1&amp;ctid=bd697c1b-c481-479c-841e-c618542675c3&amp;fromEntryPoint=export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A5B5056-111D-4372-B1CA-30053D357E6D}">
  <we:reference id="wa200003233" version="2.0.0.3" store="en-US" storeType="OMEX"/>
  <we:alternateReferences>
    <we:reference id="WA200003233" version="2.0.0.3" store="" storeType="OMEX"/>
  </we:alternateReferences>
  <we:properties>
    <we:property name="artifactViewState" value="&quot;live&quot;"/>
    <we:property name="backgroundColor" value="&quot;#FFFFFF&quot;"/>
    <we:property name="bookmark" value="&quot;H4sIAAAAAAAAA+1ZTW/bOBD9K4YuvRgFRX3nljjpqV0EddDLIjCG5NhRK4kCRTnxBvnvO6KcbdLYcepuHRWI4YPEGZEzbx5nRtStp/KmLmD1F5ToHXknWn8rwXwb+d7Yq/qxKEnDJAgSmXCMkfmcJxlJdW1zXTXe0a1nwSzQfsmbFopuIhr82wsYVylmIaQRPRkLJiDyLsceFMU5LDqdORQNjr0aTaMrKPJ/sJ+CRNa0eDf28KYutIFuoakFi91iS1KnezLMfx+QHSBtvsQpStuPpiLlc4yDMPZ5xCRnoQhJrekVnL0bVbqp3fITXVnIK1qmG9voBo3P88KuVcTq7KY25DMhsao7yCZk60KbXELhOS8MNr3Rt95EF23prs4ejU91ayR+xrkTVTa3K5pJ6rKGajW7MjMlRsvrGZYEyQpxVhtNNqB3RzidG00ougfOdZM7JLrxK309MUjGKO+I3V3SSJNXi2KN83eXL3qzmyKXaLrYiq8El3OuRIptd6HAgvOx7hfLsZdr5cToILj1PuYESz/3Fyjabtp3p/SE0tfVOzKKfpddNIr7gD2ZsbEEnJ06Q6dOb8f8jkfrqTuve0YQJl8fxNwpN265w0WAzCFZgCHjUoIkxkVJIANfyp0UOlZLqCQF7kf+fEJoWoO/zfxPurGjiS5LXY0+5FiokZ6PprZVq30oJcGoteghrRwukUQehhHHRERBwoMsidMhb60z1UqXi0YfcYnFBjjGQzDzmQww3k2v48XC4ALs+vbskJb/J8+VE31oq3WS4HtQr86X2l6AoHUeUY9ujEJzsnK0Os3NfSbyx4d190Ggupy4MW31Jhwkbz2lNxn1WV+/TtKMA5GG3E8zX8bMD+I0Qjbk5HCKNRhbYmXfKu9rVd5HMehplCSxwpBDyFTMBREK/XjINNpdY9649FrZ0BEqk1niB/Sn9MQ4ZFyxcMiE2tnCDaJneTZ7vqBr+d1N8YW2UIzO1lrNPttSgJlckZMvbEb4j83I4V3c3pT0RFkdYh8+4W+/DUUy5yyRXEkZpAFPFEv9IW/Dn3l3eDWW3wefXv/a/foYWbQN4Y/qZOBsf+LqIMi+regIwf05MVxAFPgJhsR5NdwThOMl1fZFB21ZY9XAvsdR284OhsOiLZ72DYwQYSwwEkIJEbAEkizanaIOEDQ0c23KbpUZVFCsmrzZ5tf5d93RVGqDf3oYf9H3PrCSzfk8UiJIOWOhZBQu4Vre51CweGOFvnl6CiYly9JQMAgykUSMpQz4WyUbSgq6r2c9qIMuaVuT0YALm+JxxrkPqYpTJtMgU2wgpzwvyBQD2wkHz+vD6/V+Ob0fdKvsRbF+36DwIcSMyYwHjMkwCsXur5KD+KT0Pxxwbf+m5LDZdOylW9vUIPEcKtxwWEVwQKVQeT9zRHV39y+rIOolPh8AAA==&quot;"/>
    <we:property name="creatorSessionId" value="&quot;2403b567-ee6c-4e0e-8e5a-8ba19cbb669f&quot;"/>
    <we:property name="creatorTenantId" value="&quot;bd697c1b-c481-479c-841e-c618542675c3&quot;"/>
    <we:property name="creatorUserId" value="&quot;10032005FD2FD06B&quot;"/>
    <we:property name="datasetId" value="&quot;ba8c48e9-f1d3-4cc1-aee0-a79f888db4c8&quot;"/>
    <we:property name="embedUrl" value="&quot;/reportEmbed?reportId=2fb33e39-6b59-4d6d-9e49-5ec36663af7e&amp;groupId=56339d2c-64b1-4d0e-bd05-3556e4685fcc&amp;w=2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+1ZTW/bOBD9K4YuvRgLivrOLXHcS5s2iINeisAYkmNHrSwKFOXEG+S/74hy2qSJ46y7dbRADB8scjScefM4HA9vPJXXVQGrT7BA78A70vr7Asz3ge8NvXI99vnzh5PDsw/TT4cnYxrWlc11WXsHN54FM0f7Ja8bKFoNNPj1YuhBUZzCvH2aQVHj0KvQ1LqEIv8bO2GasqbB26GH11WhDbQqJxYstmqXJE7PtLb/V0ArgrT5EicobTeaipTPMA7C2OcRk5yFIiSxuhNwlj0p0qp2y490aSEvaZl2LGBcpZiFkEYy4bFgAqJ2fJYXdi0iVuPrypB35POqalEZka1zbXIJhee8MFh3Rt94I100C/dr/GB8ohsj8Qxnbqq0uV2RJqkXFZSr6aWZKjFYXk1xQZCsEKeV0WQDereE06nRhKJ74VTXuUOiHb/UVyODZIzyDtjtBY3UeTkv1jj/dPm8M7sucommjaL4RnA55xZIUWx/KLDgfKy6xXLs5rVy0+gguPE+5gRLp/sLFE2r9t0xvaH0VfmOjKLPRRuN4i5gjzTWloCzE2foxMlt0e94tFbdet0xgjD5di/mTrh2y+0vAmQOzQUYMi4lSGJclAQy8KXcSqFDtYRSUuB+5c8JQt0Y/GPmn+jaDkZ6sdDl4H2OhRro2WBiG7XahVISjFpP3aeVwyWSyMMw4piIKEh4kCVx2uetNVaNdLlo8BGXWDwBx7APZj6TAYbb6XU4nxucg10/jvdp+Y/5XLmp9025ThJ8B+pV+VLbcxC0zgPq0YNRaI5WjlbHubnLRP5wv+7eC1SbE59MW50Je8lbj+lNRp3pq9dJmnEg0pD7aebLmPlBnEbI+pwcjrECYxdY2reT97VO3gcx6GiUJLHCkEPIVMwFEQr9uM802n7GvHHptbKhI1Qms8QP6EvpiXHIuGJhnwm1tYTrRc3ybPZ8QdXyp4vic22hGIzXUvUu21KAGV2Sky8sRvivxcj+XdxclHREWe1jHz7ib7cNRTLjLJFcSRmkAU8US/0+b8N/89/h1Vh+F3z6+9fsVsfIoqkJf1RHPWf7I1d7QfZNh44Q3J8RwwVEgZ9gSJxX/e0gHC7pbJ+30C4qLGvYtR21qXfQHxZt8LQrYIQIY4GREEqIgCWQZNH2FLWHoKGZabNoV5lCCcWqzutNfp3+lB1MpDb4fw/jb/reBVayGZ9FSgQpZyyUjMIlXMn7HAoWr63Q14+7YFKyLA0FgyATScRYyoC/nWR9SUF351kHaq+PtI3JqMcHm+JxxrkPqYpTJtMgU6wnXZ4XZIqe7YS95/X+1Xq/nd73ulV2oli3b1D4EGLGZMYDxmQYhWL7rWQvrpT+gwbX5jslh81TbS/d2LoCiadQ4hPNKoIDSoXKe2GLatgalLc3C8+/0F5j/2hp3d7+A1qCUTVRHwAA&quot;"/>
    <we:property name="isFiltersActionButtonVisible" value="true"/>
    <we:property name="isVisualContainerHeaderHidden" value="false"/>
    <we:property name="pageDisplayName" value="&quot;Workforce &quot;"/>
    <we:property name="pageName" value="&quot;8b82fe63461250c204b4&quot;"/>
    <we:property name="reportEmbeddedTime" value="&quot;2026-08-09T08:07:49.721Z&quot;"/>
    <we:property name="reportName" value="&quot;Roblox_Africa_dasboard&quot;"/>
    <we:property name="reportState" value="&quot;CONNECTED&quot;"/>
    <we:property name="reportUrl" value="&quot;/groups/56339d2c-64b1-4d0e-bd05-3556e4685fcc/reports/2fb33e39-6b59-4d6d-9e49-5ec36663af7e/8b82fe63461250c204b4?bookmarkGuid=341219df-78ef-4c1e-8228-d35b5f93ace4&amp;bookmarkUsage=1&amp;ctid=bd697c1b-c481-479c-841e-c618542675c3&amp;fromEntryPoint=export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4B766852-E23D-47EB-9A17-D6FAA59CA47E}">
  <we:reference id="wa200003233" version="2.0.0.3" store="en-US" storeType="OMEX"/>
  <we:alternateReferences>
    <we:reference id="WA200003233" version="2.0.0.3" store="" storeType="OMEX"/>
  </we:alternateReferences>
  <we:properties>
    <we:property name="artifactViewState" value="&quot;live&quot;"/>
    <we:property name="backgroundColor" value="&quot;#FFFFFF&quot;"/>
    <we:property name="bookmark" value="&quot;H4sIAAAAAAAAA+1Y3W/bNhD/Vwy99MUYKOo7b4mTYgO6IaiDbEARGEfy5KiVRYOik3iB//cdKbtdYi9pPuY4aR8EUOTxeL/7Jq8DVbXTGuZ/wASDveBA6y8TMF96YdAPmm4ui5NEZJxzobKCRREvEk6remor3bTB3nVgwYzRnlbtDGrHiCY/nfUDqOtjGLu/EuoW+8EUTasbqKu/sSOmJWtmuOgHeDWttQHHcmjBomN7QeT0TyKEv0R0IkhbXeAQpe1mY5lLHkcsUWGuoiRlKkEiazsCL9lGEpovq9oSdzcU86OrqSGJr1eApUxSwSQmCVMsTiLJmONr51O3OiDpxtpUEurAy22w7cS8Dga6nk386OjG/FDPjMSPWPqlxlZ27s7Rkyk089G5GSnRu7gc4YSUMEcckaJKbSbQSBwBKWzeVm2wIDUdG01rfrfCKRg7wcaOvNxu+VxfDgySgCrYSxZnNHPh9TzQjYWqWSJmPM3ikoe5yFKuGMgsVv+tlCXsfXXhxFFrmH9HaGcGtwN6n3yCXKp3YghO1Yx7v9Ih7Rp25rG3RFAvPc37kx+ddHgkGLVcIl8Wn8lpHHLapo1CczD34A8rs3I33r+FbzeAE1KiDEWY5UJkTOWcMRYrHqf3mnQrnmw0yYC34Rx+dd7H2K6tK4nmht2CCVIOcgMFFjzKaXdchd26Vn4ZvRKugw8VKabjfQr1zLF9d0g7lL5s3jm9kmZdLqlX9l/j2FpSnR16QYee7h7+PgsuWTvUXT4jrXz+V8byxK0/bps2IIFoNVFxVoiQF5IVUSSLrEDmod5lDYtXVuirm2HkuGVllHKUoojSyHllnvDi1Tplf5uZcLN8qxwwoI3YtL5YPir11bOWDIDqAMzgnCC/fAZ8EGAXmBtjZ+k78xeKHsiLOCqZkIoDsjSFWN3v77tVV4+/0faGUpv1tuLtltZN2JeJGqltRCU4ixFZkbnB4w27zSZxjmCevcKOselK21pJ7BRyc3S66uLJyu+Nnvhty+uGpBMei7QfdLIylw7+PEfnLj7sG1XZpUp/u6XmB9TV7sfLuFmndOrXWv1pY73njIcfHOVZ50h+z8/25Al+3OVZUYi0LHOWR5KLlCIyYuKV5dl9a7FRPtV8dLfdHyfLriPvvI3axCSUBaQyYkWaYpxKuRvN4jPcxb+rfdwfjw2OYZW7jl4MzbQL+Xbk2NToEDiK97Nm6UnshdvjZw20XZX8e1qxXZX96c8zrQSy3ObryRZ7/0fFPhXmv7wYO+M3Xd2UCjDmAAkTUQSSRXnOfqwUuzMGeQt39idfrV5BJPu4wagUXIqUKaHSWOaMZffHzW744Im2UPeWCm79Q8q3gv62G847oHcdZxljGasMOUhZsCgspIRdMOv//Pi3Q1Z84KufNxqEuftkAmERIpOK33/3+1nDdiJ/rEpYp/LXU8XuzCSvo4j5OrbpLU/PbDsFicfQ4IZHJHI9aBSqBz0dLRb/AMEkdahXIAAA&quot;"/>
    <we:property name="creatorSessionId" value="&quot;ad61926c-af18-4b4f-a60a-e07f0b0b0f99&quot;"/>
    <we:property name="creatorTenantId" value="&quot;bd697c1b-c481-479c-841e-c618542675c3&quot;"/>
    <we:property name="creatorUserId" value="&quot;10032005FD2FD06B&quot;"/>
    <we:property name="datasetId" value="&quot;ba8c48e9-f1d3-4cc1-aee0-a79f888db4c8&quot;"/>
    <we:property name="embedUrl" value="&quot;/reportEmbed?reportId=2fb33e39-6b59-4d6d-9e49-5ec36663af7e&amp;groupId=56339d2c-64b1-4d0e-bd05-3556e4685fcc&amp;w=2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+1Z3W/bNhD/Vwy99MUYqG8pb46TYUCXNoiDYsBQGEfy5KiVRYGik3iB//cdKaddai9O09ZR0j4YoMnj8X73TerGk2XbVLB8A3P0DrxDpT7OQX8c+N7Qq9dzb9++PhmdvZ6+GZ0c07RqTKnq1ju48QzoGZp3ZbuAynKgyb/fDz2oqlOY2X8FVC0OvQZ1q2qoyn+wI6Yloxe4Gnp43VRKg2U5MWDQsr0kcvpPZ/u/hXQiCFNe4gSF6WYjkYkgClks/UyGccJkjETWdgROsq0kNF+UlSHudsiXx9eNJolvbpEKESecCYxjJlkUh4Ixy9csG7s6JulmSpcCKs/JrbHtxLzxxqpazN3o+M78RC20wDMs3FJtSrO056h5A/VyeqGnkg8ur6Y4JyUsEaekqELpOdQCp0AKW7Zl661ITada0ZrbLbEBbeZYm6mT2y5fqKuxRhJQegfx6j3NXDo9j1VtoKzXiFmQpFER+BlPk0AyEGkk/18pa9gjeWnFkRuYTxDahcb9gB6RT5BLDc41wSnr2eAPOqTdwM4c9pYIqrWnOX9yo/MOjwAt10vky/wDOY1FTtuUlqgPlw78Ualv3S0YfoGvH8AJKVH63E8zzlMms4AxFskgSnaadC+erBXJgF/COfrkvI+xXVuVAvUdu3lzpBxkBxIMOJRNd1yJ3bqSbhmdEm68P0tSTMf7HVQLy/bVEe2Q6qp+ZfVKmrW5pLq1/wbH1pDqzMQJOnF0O/i7LLhmbVF3+Yy08uE/GcsRt+64fdqABKLVWEZpzv0gFywPQ5GnOTIH9T5rGLw2XF3fDSPLLS3CJEDB8zAJrVdmcZA/W6cc7jMTbpfvNgeMaSPWrSuWj0p91aIlA6A8BD2+IMhPnwG/CrANzK2xs/ad5RNFD2R5FBaMCxkAsiSBSO72937V1dPPtIOJUHqzrXi5pXUb9nWiRmobUfKARYgsT+3g8YbdZ5O4RNC/KuyPr7APN0WXKnjOk6LIWBaKgCfkVCHjzyxVjIzBWrpoObMXtp8nUWwi77yNOp3YFzkkImR5kmCUCNGPfuc7XCcf1AGNZjONs65Ob0i9TzRNF/Lt1LKp0CKwFL8v6rUnsSfu8L5roPVV8od0E32V/dtfGFoBZLntHfYe29dHxT4V5r+cGL3xm65uCgkYBQAx42EIgoVZxn6uFNsbg7yEa+c33w6eQSS7uMGw4IHgCZNcJpHIGEt3x00/fPBcGagGawW37i3gc0F/2Q3nPdC7jrOIsIhkigEIkbPQz4WAPpj1B79f9ciKX/lw5YwGfmZ/IgY/95EJGey++/2qYb3IH7clrFP586li92aS51HEXB3b9hylFqZtQOAp1LjlEYlcD2qJ8qFPR+6bacmrXW9Z9sP1p6em1epfkj9YkkMfAAA=&quot;"/>
    <we:property name="isFiltersActionButtonVisible" value="true"/>
    <we:property name="isVisualContainerHeaderHidden" value="false"/>
    <we:property name="pageDisplayName" value="&quot;Performance&quot;"/>
    <we:property name="pageName" value="&quot;4c8c24305d18d3560d5e&quot;"/>
    <we:property name="reportEmbeddedTime" value="&quot;2026-08-09T08:19:02.992Z&quot;"/>
    <we:property name="reportName" value="&quot;Roblox_Africa_dasboard&quot;"/>
    <we:property name="reportState" value="&quot;CONNECTED&quot;"/>
    <we:property name="reportUrl" value="&quot;/groups/56339d2c-64b1-4d0e-bd05-3556e4685fcc/reports/2fb33e39-6b59-4d6d-9e49-5ec36663af7e/4c8c24305d18d3560d5e?bookmarkGuid=d570359a-cdcd-496a-998d-a04b71120b09&amp;bookmarkUsage=1&amp;ctid=bd697c1b-c481-479c-841e-c618542675c3&amp;fromEntryPoint=export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F53C47DC-D3E4-45A5-BCF4-55F861E217C7}">
  <we:reference id="wa200003233" version="2.0.0.3" store="en-US" storeType="OMEX"/>
  <we:alternateReferences>
    <we:reference id="WA200003233" version="2.0.0.3" store="" storeType="OMEX"/>
  </we:alternateReferences>
  <we:properties>
    <we:property name="artifactViewState" value="&quot;live&quot;"/>
    <we:property name="backgroundColor" value="&quot;#FFFFFF&quot;"/>
    <we:property name="bookmark" value="&quot;H4sIAAAAAAAAA+1aS2/bOBD+K4EuvbgFRUmW1FvjZLHFNkWQFL0UgTEkR7ZaWRQoyok38H/foSTn0XU2TbqI4qaHBBGHmsc3H2fGdC49lddVAauPsEDvrbev9bcFmG97vjfyym4tjlQkxhHjvhRB6vt+GCFJdWVzXdbe20vPgpmh/ZzXDRROES1+ORt5UBTHMHNPGRQ1jrwKTa1LKPK/sdtMImsaXI88vKgKbcCpPLVg0ald0nZ6Jhf8NwFZBGnzJZ6itN1qItMUBEDCY8akD0ymgrbV3YbWs61bnOrW/ESXFvKSzLi1QPFYJCpNQoGKByH6PHDrWV7YfotYHV5UhqKjmFeVA+edWkIpUXltCAbrzuNL791sZnAGtn88vCWc6KJZbFk/1Y2ReIJZKyptbldkQ+pFBeVqOjdTJfaW51OFFRi7wNJOCdJMm4XzYQoE7arOa29NgB4bTbL2fastFFODSywbnM6QAiaEVbvtj6bs4WTuca7PJwZbKS2c0Uqdl7OiT9c1cp+66CUY1YuIEOIrIe9wote0UWj2Vy1UB7nZ5IyPvot4F2EiXGgpDOIkZCzgTMYJRhy5SO6ly4Q0zrTJZYsYDhjtwdV279+JH93P7yOEujH4VO5+RLvnjqvJRdMm4jFsLZqaUoNqH8xkTtYfS9rhY1+fbcoh7ft6o+D1BOtiGJBRdETcGUmUiMH31TjmDJjyWQKPL6lPG84KwTyGZXWRSzS3qOUtkBqk+0OBhTbWqjOUYyfXqhVjC8Wl9yEneDrdn6FonNpXB/SG0uflK5f+vgZtpUD7Rj0AAXrE+tQjYzwARr9xrLhgXPxE6oc/cQP0xuGD7jsdpiIJlRiHAfN56nMVjXcmlSddP39t9euJru3eiZs1XkQ+74q8S2rEfMCUZYJFfjpWLGAsHHJ8wQV9AFghTqkykg/43OaV+/w77OV0hJqtPv74eNIhOeiE8uBon2QgeRBHujYUKT/NBGdxIBkkEao0jH+VKf33KPKQWTSOA575gsfcZxGySFL125kudh3PT9SXXWtgW4LuuBan8TjLQh6zQLCUszBB6Sz/Z/gWL6zQF7djd9pkIsMQYoEpl0yMJQvjaGeI8cldWuzdQqp+Gey4K/KOIlKmkseCsbEfR5IFEevK2q9Q95/f7cyPsnAHPO+n5p1w/tiNQTs/a/5v5/75X4lRnvLZvKAf2/YrLDaofukGsiOonOChdt/cMORU1ZJceK+6ukWqTF5vqtjm6a+8dFQZeR8ws4MXuJMNJNvGzT8b0kUHs249qa+mzhENsxb6OfbhmG0n0pnjUdclrnE4urJzeePEDz/YUp8DOUfVQvXe4qJzKVfo7OX96P0i2DDylm5Hf4Bosve+23j1QSCLsizwMUmCEGVAnwtDfv/N5O/RYPD7tx399ubua7jn36/W7YHZdnugG1tXIPEYStxyi0CUg1Khuucmof2/gKtLhPX6H1Xqz0qPIAAA&quot;"/>
    <we:property name="creatorSessionId" value="&quot;fe473d5b-92a9-48dc-a3b9-70f93ea7497c&quot;"/>
    <we:property name="creatorTenantId" value="&quot;bd697c1b-c481-479c-841e-c618542675c3&quot;"/>
    <we:property name="creatorUserId" value="&quot;10032005FD2FD06B&quot;"/>
    <we:property name="datasetId" value="&quot;ba8c48e9-f1d3-4cc1-aee0-a79f888db4c8&quot;"/>
    <we:property name="embedUrl" value="&quot;/reportEmbed?reportId=2fb33e39-6b59-4d6d-9e49-5ec36663af7e&amp;groupId=56339d2c-64b1-4d0e-bd05-3556e4685fcc&amp;w=2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+1Z33ObOBD+Vzy89MXtCAEG+pY4uZde0kzS6ctNxrOSFocWI0YIJ27G//utgP5Iz6mb9CaUti8esyu0++1+Wq3Erafyuipgcwor9F56h1q/X4F5P/G9qVf2stevX50cnL9anB6cHJNYVzbXZe29vPUsmCXat3ndQOFmIOE/l1MPiuIMlu4pg6LGqVehqXUJRf4Bu8GksqbB7dTDm6rQBtyUFxYsumnXNJyeybb/IiCLIG2+xguUtpMmMk1BACQ8Zkz6wGQqaFjdDWg92znETd2an+vSQl6SGScLFI9FotIkFKh4EKLPAyfP8sL2Q8Tm+KYyhI4wbyoXlQO1hlKi8loIBuvO41vvYLk0uATbPx7fUc510ax2yC90YySeY9aqSpvbDdmQelVBuVlcmYUSk/X1QmEFxq6wtAsKaabNyvmwAArtps5rb0sBPTOadO37VlsoFgbXWDa4WCIBpgirdthfTdmHk7nHK309N9hqSXBJkjovl0Wfrs+Re9Ohl2BUryJCiHcUeRcnek0bheZw04bqKDcfc8anXyEeY5goLiQKgzgJGQs4k3GCEUcukr10mdOMS21y2UYMB0R79Gm499/ET/fz+wShbgw+lbunaCduuZpcNG0iHsPWoqkpNagOwcyvyPpjSTs89u3lx3JI4959UfB6gnUYBmQULRG3RhIlYvB9NYs5A6Z8lsDjS+rTwtkgmMewrC5yieYOtbwV0gbp/iiw0GKtOkM5dnqtWjW2obj1/s4pPN3cb6Fo3LTPjugNpa/LZy79fQ3aSYH2jXoAAvQR61OPjPEAGP3iTHHBuPiB1A+/4gbYG4cH3e90mIokVGIWBsznqc9VNBtNKs+7/fy51c/nuraTc9dr/Bb5vA95l9SI+YApywSL/HSmWMBYOGT7gis6AGwQF1QZyQf82fqVff4d93paQs1OH7+/PekiOWiH8mC0T9KQPIgj3TYUKT/NBGdxIBkkEao0jH+VLv1PK/KQXjSOA575gsfcZxGySFL1G80u9hnPD9SXsW1gO0B3XIvTeJZlIY9ZIFjKWZigdJa/Cd/ijRX65i52N5tMZBhCLDDlkomZZGEcjYYYb9ylxeROpOrfgx33Ie8oImUqeSwYm/lxJFkQsa6s/Qp1/+e7nfleFo7A875rHoXzZ64NGn2v+b+t+1FciWVRlgU+JkkQogyoKw35/nuRP4Vp8NP/SO+O778EGMFqaRfMrrOLbmxdgcQzKHHHGYYoB6Vymf3mOab9Kum1RijXuSj2HXzct8pPR57t9l84Ln7ENh0AAA==&quot;"/>
    <we:property name="isFiltersActionButtonVisible" value="true"/>
    <we:property name="isVisualContainerHeaderHidden" value="false"/>
    <we:property name="pageDisplayName" value="&quot;Finance&quot;"/>
    <we:property name="pageName" value="&quot;8c99abaa82700c1a0c9b&quot;"/>
    <we:property name="reportEmbeddedTime" value="&quot;2026-08-09T08:40:03.301Z&quot;"/>
    <we:property name="reportName" value="&quot;Roblox_Africa_dasboard&quot;"/>
    <we:property name="reportState" value="&quot;CONNECTED&quot;"/>
    <we:property name="reportUrl" value="&quot;/groups/56339d2c-64b1-4d0e-bd05-3556e4685fcc/reports/2fb33e39-6b59-4d6d-9e49-5ec36663af7e/8c99abaa82700c1a0c9b?bookmarkGuid=c4eb0e6a-0b35-4c23-a488-8d6126d22701&amp;bookmarkUsage=1&amp;ctid=bd697c1b-c481-479c-841e-c618542675c3&amp;fromEntryPoint=export&quot;"/>
  </we:properties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E3FEE4AE-58E5-434D-A83F-0E290EC24913}">
  <we:reference id="wa200003233" version="2.0.0.3" store="en-US" storeType="OMEX"/>
  <we:alternateReferences>
    <we:reference id="WA200003233" version="2.0.0.3" store="" storeType="OMEX"/>
  </we:alternateReferences>
  <we:properties>
    <we:property name="artifactViewState" value="&quot;live&quot;"/>
    <we:property name="backgroundColor" value="&quot;#FFFFFF&quot;"/>
    <we:property name="bookmark" value="&quot;H4sIAAAAAAAAA+1ZUW/bOAz+K4Zf9hIMdizLct/atA8DtqFYD3s5FAEt0ak3xzJkOW2uyH8/Sk63tdc0h8Pu4uYWIEBMyhTJ7yMtOvehqrq2hvVHWGJ4Ep5p/XUJ5msQh5OwGWSFEKLMpiBTGQmeIssiIK1ubaWbLjy5Dy2YBdrPVddD7QyR8PfrSQh1fQkLd1VC3eEkbNF0uoG6+gOHxaSypsfNJMS7ttYGnMkrCxad2RUtp2tyIX6b0I4gbbXCK5R2kGLBShAsUpGIRBrRR3Ja1g0LvGfPLnGm/fYz3VioGtrGyaKkUKko0yKJIBF5rEDkTl5Wtd0uKdYXd62h6CjmdeuSMyNfF9pUEurQR2GwG5y+D2e67pf+18Uj+ZXujcRPWHpVYyu7JktSL1to1vMbM1dFsLqd45JSskact0aTDxhuKE+XRlMW/Q3n2IKxS2ys19zo25lBckeFJ9Fm8s3DU7WCRpL0qXsfELre4L/mHxmtDKrgXUPbOBeCme6fdfaaJF3VLOotLb4j9NsQg6z7jjBANaR0dkOBOwoWXwhrhwwZ0EahOVt7cM5p4y1LppMn0R0u7M31A4dp+ZcfWLol0eD7f8ma643TTmMGuSxySGQkWZTSlx8B8Q/oYfWA/byjZtZ3Iy3Qrf5/UpdPox1tOSYKZCa4yFWWSsXTCOHVluNeCnV1JdE8Ik24RDpPuB8KLPgo22G7Cge9Vl6NPgn34fuKEjPY/gx178y+Oac7lL5t3jikfWp3oO3v6A6Fdc6kTDkXgCLnUsL0b2B98IbRBbeVvQlOfTq/P+j+UQcBo7aqkfeN3UEP5EpL5KViuUQ5xUzITHHxGqC8qKtFVdQYlNoEH1C5FhK8R1gdPZ4vRj6AyosyyzmDIp0mbMoi4Lx4DaB6qv7lJHrsgO6MegAzK0UiUMqCHqjAYhmxMYN5SuMvTc+PiRmcQX28SO4LeYBRpCJVbpSPs0LmMcO4YK/2fDSCMeDnE+1hKjgDM+qRYD/fxjkhCMwk5iqOYzpqMBoR4sSfGl9ExeKdLfTdYyz8qTiTaZJQOWGKgjMWYb6/ng7G1ktsFIX5U94qjb4h7g52aIUFZAo5FpxxmWHEE1T7n2jjfi/ya2B8MV1DA8BUcJkAoIKESY7JNBtxyT4dmYJP7gX/URbsrlA9bm7tc6TVve1akHgJDT5DXgILGuVS9CKB/X8s37i72fwJR/6YPNsZAAA=&quot;"/>
    <we:property name="creatorSessionId" value="&quot;043eb055-016a-4be1-9f7d-103fa92d3f9f&quot;"/>
    <we:property name="creatorTenantId" value="&quot;bd697c1b-c481-479c-841e-c618542675c3&quot;"/>
    <we:property name="creatorUserId" value="&quot;10032005FD2FD06B&quot;"/>
    <we:property name="datasetId" value="&quot;ba8c48e9-f1d3-4cc1-aee0-a79f888db4c8&quot;"/>
    <we:property name="embedUrl" value="&quot;/reportEmbed?reportId=2fb33e39-6b59-4d6d-9e49-5ec36663af7e&amp;groupId=56339d2c-64b1-4d0e-bd05-3556e4685fcc&amp;w=2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+1ZTW/bOBD9K4IuvRgLyZIoKjfHyWHRpg2SIpdFYIzIkaNWFgWKcuIN/N87pJx2k8ZxUbRrxbsGDEgz5Hy9R4oj3fuybJsKVu9hgf6Rf6zU5wXoz17oj/x6I/vw4e3Z5OLt7P3k7JTEqjGlqlv/6N43oOdorsq2g8paIOFf1yMfquoc5vaugKrFkd+gblUNVfk39oNJZXSH65GPd02lNFiTlwYMWrNLGk735Dv8IyKPIEy5xEsUppdiHhfA40AGPOBJQD/BaFjbD3CRPTvEmnbup6o2UNbkxsqCKJcJL5I8CiDiWSiBZ1ZelJXZDMlXp3eNpuwo51VjqzKlWOdKlwIq32Whse2DvvenquoW7ur0kfxSdVrgBRZOVZvSrMiSUIsG6tXsRs9k7i1vZ7igkqwQZ41WFAP6a6rTuVZURTfhBBvQZoG1cZobdTvVSOFI/yhYj75GOJFLqAVJn4Z3htB2Gn9bfGS01Ci9P2tyY0Pwpqp7NthrkrRlPa82tPiG0Mc+B1F1LWGAsi/p9IYStxTMPxHWFhkyoLREfbxy4JyQ4w1LxqMn2e0v7fX1A4dp+Kd/sHRDoj72f5M112urHYcxZCLPIBKBiIOE/uwAiL/HCMsH7GctbWZdO9AFutH/R9bl02wHuxwjCSLljGcyTYRkSYDwapfjTgq1VSlQPyKNv0A6T9gLCQZclk3vrsRer6RToyvCvf+upML0tq+g6qzZNyc0Q6rb+o1F2pV2C9puRrsvrLNYiIQxDsgzJgSMfwDrvW8YrXdbmhtv4sr57UH3UzsIaLlRDXzf2J50T66kQFbIOBMoxphykUrGXwOUp1U5L/MKvUJp7wyl3UK8dwjLg8fzxcx7UFlepBmLIU/GUTyOA2Asfw2gOqp+dxI9dEC3Zt2DmRY84ihETg9UiEMRxEMGc0LtL3XPj4npHUN1uEjuSrmHkSc8kbaVD9NcZGGMYR6/2vPRANqAX0+0h67gGPSgW4LdfBtmh8AxFZjJMAzpqBFTixBG7tT4IioG70yu7h5j4U7FqUiiiJYTJshZHAeY7V5Pe2PrOdaS0vwlb5UGvyFuT7bfCnNIJTLMWcxEigGLUO5+og37vcj/DeOL5eo3AEw4ExEASohiwTAapwNesk9bJu/CvuA/yAW7LVWHmx37HGlVZ9oGBJ5Djc+Ql8CCWtoSvUhg943Fd06oaLav2THBfnn5yvX1+guJdRrVBBoAAA==&quot;"/>
    <we:property name="isFiltersActionButtonVisible" value="true"/>
    <we:property name="isVisualContainerHeaderHidden" value="false"/>
    <we:property name="pageDisplayName" value="&quot;Health &amp; Insurance&quot;"/>
    <we:property name="pageName" value="&quot;eb4fa840d080850000c6&quot;"/>
    <we:property name="reportEmbeddedTime" value="&quot;2026-08-09T08:44:22.532Z&quot;"/>
    <we:property name="reportName" value="&quot;Roblox_Africa_dasboard&quot;"/>
    <we:property name="reportState" value="&quot;CONNECTED&quot;"/>
    <we:property name="reportUrl" value="&quot;/groups/56339d2c-64b1-4d0e-bd05-3556e4685fcc/reports/2fb33e39-6b59-4d6d-9e49-5ec36663af7e/eb4fa840d080850000c6?bookmarkGuid=0fa20341-6df3-40fe-90cf-de53cabfda78&amp;bookmarkUsage=1&amp;ctid=bd697c1b-c481-479c-841e-c618542675c3&amp;fromEntryPoint=export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1135</Words>
  <Application>Microsoft Office PowerPoint</Application>
  <PresentationFormat>Widescreen</PresentationFormat>
  <Paragraphs>156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Presec La</cp:lastModifiedBy>
  <cp:revision>6</cp:revision>
  <dcterms:created xsi:type="dcterms:W3CDTF">2013-01-27T09:14:16Z</dcterms:created>
  <dcterms:modified xsi:type="dcterms:W3CDTF">2026-08-09T19:26:57Z</dcterms:modified>
  <cp:category/>
</cp:coreProperties>
</file>